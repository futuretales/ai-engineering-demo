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mapa de habilidades de AI Engineering publicado por Andrew Ng y DeepLearning.AI en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mapa se construyó con datos: más de 10.000 ofertas de empleo, entrevistas y encuestas. Ng lo describe como un clustering sobre un dataset masivo.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 con la nube: todos los desarrolladores trabajan con la nube, pocos tienen el título de Cloud Engineer. Igual con AI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pilares del mapa. Debajo de todos: una mentalidad de aprendizaje continuo.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 clave: las aplicaciones de IA tienen salidas impredecibles. El trabajo consiste en medir, dirigir y gobernar ese comportamiento.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competencias. Construir IA es más iterativo que el software tradicional: construir, examinar y decidir el siguiente paso.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Según Ng, el rasgo que más distingue a quien construye bien sistemas de IA es conducir un ciclo disciplinado de evals y análisis de errores. Tres tipos de eval: deterministas, LLM-as-a-judge y humano en el ciclo.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Aunque un agente escriba todo el código, entender los fundamentos permite dirigirlo hacia las compensaciones correctas.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Quien hace vibe coding sin fundamentos deja que el agente tome malas decisiones en latencia, disponibilidad, costo, etc., sin saber siquiera que existían.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habilidad que evoluciona más rápido de las cuatro. Requiere experimentar continuamente con herramientas y flujos.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es parecido al de antes, pero el foco pasa del código a decidir qué construir, diseñar la arquitectura, escribir la spec y verificar. Es iterativo: si la verificación falla, se vuelve atrás.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 advierte que las redes sociales simplifican de más: las tareas autónomas de horas se sobrevaloran. El uso efectivo es iterativo y con juicio humano.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una spec clara, los agentes entregan cada vez mejor. El trabajo del ingeniero se desplaza hacia decidir qué debe contener la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roles de producto, diseño y desarrollo se difuminan. Un ingeniero con estas habilidades avanza sin esperar a que un PM decida cada paso.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Definiciones de referencia para los conceptos que aparecen en el 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Debajo de las cuatro habilidades está una mentalidad de aprendizaje continuo: la IA cambia rápido y las buenas prácticas también.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Serie de cinco cartas de Andrew Ng en The Batch, agosto y septiembre de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1A2E9">
                  <a:alpha val="7000"/>
                </a:srgbClr>
              </a:gs>
              <a:gs pos="100000">
                <a:srgbClr val="01A2E9">
                  <a:alpha val="0"/>
                </a:srgbClr>
              </a:gs>
            </a:gsLst>
            <a:lin ang="5400000" scaled="0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6000"/>
          </a:blip>
          <a:stretch>
            <a:fillRect/>
          </a:stretch>
        </p:blipFill>
        <p:spPr>
          <a:xfrm>
            <a:off x="10624989" y="1333500"/>
            <a:ext cx="8234511" cy="819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952500"/>
            <a:ext cx="4526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1A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SKILLS MAP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48300" y="1090613"/>
            <a:ext cx="6096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6" name="Text 3"/>
          <p:cNvSpPr/>
          <p:nvPr/>
        </p:nvSpPr>
        <p:spPr>
          <a:xfrm>
            <a:off x="6248400" y="952500"/>
            <a:ext cx="7346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1A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3156347"/>
            <a:ext cx="12753975" cy="2602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66"/>
              </a:lnSpc>
              <a:buNone/>
            </a:pPr>
            <a:r>
              <a:rPr lang="en-US" sz="9900" spc="-19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Habilidades esenciales en </a:t>
            </a:r>
            <a:pPr algn="l" indent="0" marL="0">
              <a:lnSpc>
                <a:spcPct val="89166"/>
              </a:lnSpc>
              <a:buNone/>
            </a:pPr>
            <a:r>
              <a:rPr lang="en-US" sz="9900" spc="-198" kern="0" dirty="0">
                <a:solidFill>
                  <a:srgbClr val="01A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</a:t>
            </a:r>
            <a:endParaRPr lang="en-US" sz="9900" dirty="0"/>
          </a:p>
        </p:txBody>
      </p:sp>
      <p:sp>
        <p:nvSpPr>
          <p:cNvPr id="8" name="Text 5"/>
          <p:cNvSpPr/>
          <p:nvPr/>
        </p:nvSpPr>
        <p:spPr>
          <a:xfrm>
            <a:off x="1143000" y="6101953"/>
            <a:ext cx="1079182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B8E4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todo desarrollador necesita saber para construir con IA hoy.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143000" y="9039225"/>
            <a:ext cx="84491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E4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Basado en el AI Engineering Skills Map — DeepLearning.AI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870561" y="90392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E4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4485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514475"/>
            <a:ext cx="1760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spc="-51" kern="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 del mapa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143000" y="3871913"/>
            <a:ext cx="9356735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261"/>
              </a:lnSpc>
              <a:buNone/>
            </a:pPr>
            <a:r>
              <a:rPr lang="en-US" sz="19500" spc="-585" kern="0" dirty="0">
                <a:solidFill>
                  <a:srgbClr val="01A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10.000+</a:t>
            </a:r>
            <a:endParaRPr lang="en-US" sz="19500" dirty="0"/>
          </a:p>
        </p:txBody>
      </p:sp>
      <p:sp>
        <p:nvSpPr>
          <p:cNvPr id="5" name="Text 3"/>
          <p:cNvSpPr/>
          <p:nvPr/>
        </p:nvSpPr>
        <p:spPr>
          <a:xfrm>
            <a:off x="1143000" y="6329363"/>
            <a:ext cx="7456170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ofertas de empleo analizadas para identificar las habilidades más demandadas.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601623" y="3114675"/>
            <a:ext cx="6543377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7" name="Shape 5"/>
          <p:cNvSpPr/>
          <p:nvPr/>
        </p:nvSpPr>
        <p:spPr>
          <a:xfrm>
            <a:off x="10601623" y="5076825"/>
            <a:ext cx="6543377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8" name="Text 6"/>
          <p:cNvSpPr/>
          <p:nvPr/>
        </p:nvSpPr>
        <p:spPr>
          <a:xfrm>
            <a:off x="10601623" y="3467100"/>
            <a:ext cx="71977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01623" y="3857625"/>
            <a:ext cx="6739679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Decenas de entrevistas con expertos, líderes de contratación y reclutadores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601623" y="6600825"/>
            <a:ext cx="6543377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11" name="Text 9"/>
          <p:cNvSpPr/>
          <p:nvPr/>
        </p:nvSpPr>
        <p:spPr>
          <a:xfrm>
            <a:off x="10601623" y="5429250"/>
            <a:ext cx="71977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01623" y="5819775"/>
            <a:ext cx="719771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Encuestas y síntesis de datos públicos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601623" y="8562975"/>
            <a:ext cx="6543377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1623" y="6953250"/>
            <a:ext cx="71977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601623" y="7343775"/>
            <a:ext cx="6739679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Ayudar a priorizar qué aprender y a quién contratar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143000" y="9229725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Skills Map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870561" y="92297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217277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TERMINOLOGÍA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514475"/>
            <a:ext cx="1760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spc="-51" kern="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Habilidad, no solo un rol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4085332"/>
            <a:ext cx="7772400" cy="3516511"/>
          </a:xfrm>
          <a:prstGeom prst="roundRect">
            <a:avLst>
              <a:gd name="adj" fmla="val 4334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  <a:effectLst>
            <a:outerShdw sx="100000" sy="100000" kx="0" ky="0" algn="bl" rotWithShape="0" blurRad="76200" dist="19050" dir="5400000">
              <a:srgbClr val="1A285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85925" y="4628257"/>
            <a:ext cx="73552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85925" y="5152132"/>
            <a:ext cx="735520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685925" y="6152257"/>
            <a:ext cx="6887147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cuyo trabajo es construir sistemas de IA. Un grupo acotado.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409057"/>
            <a:ext cx="7772400" cy="4869061"/>
          </a:xfrm>
          <a:prstGeom prst="roundRect">
            <a:avLst>
              <a:gd name="adj" fmla="val 3130"/>
            </a:avLst>
          </a:prstGeom>
          <a:solidFill>
            <a:srgbClr val="1A2850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3942457"/>
            <a:ext cx="73761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1A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HABILIDAD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06000" y="4466332"/>
            <a:ext cx="737616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906000" y="5466457"/>
            <a:ext cx="6906768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E6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de capacidades que necesitará todo desarrollador.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906000" y="6677918"/>
            <a:ext cx="1411932" cy="476250"/>
          </a:xfrm>
          <a:prstGeom prst="roundRect">
            <a:avLst>
              <a:gd name="adj" fmla="val 50000"/>
            </a:avLst>
          </a:prstGeom>
          <a:ln w="9525">
            <a:solidFill>
              <a:srgbClr val="33B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06025" y="6763643"/>
            <a:ext cx="10880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2232" y="6677918"/>
            <a:ext cx="1006822" cy="476250"/>
          </a:xfrm>
          <a:prstGeom prst="roundRect">
            <a:avLst>
              <a:gd name="adj" fmla="val 50000"/>
            </a:avLst>
          </a:prstGeom>
          <a:ln w="9525">
            <a:solidFill>
              <a:srgbClr val="33B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32257" y="6763643"/>
            <a:ext cx="6829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553355" y="6677918"/>
            <a:ext cx="1226195" cy="476250"/>
          </a:xfrm>
          <a:prstGeom prst="roundRect">
            <a:avLst>
              <a:gd name="adj" fmla="val 50000"/>
            </a:avLst>
          </a:prstGeom>
          <a:ln w="9525">
            <a:solidFill>
              <a:srgbClr val="33B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753380" y="6763643"/>
            <a:ext cx="9023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893850" y="6677918"/>
            <a:ext cx="2153245" cy="476250"/>
          </a:xfrm>
          <a:prstGeom prst="roundRect">
            <a:avLst>
              <a:gd name="adj" fmla="val 50000"/>
            </a:avLst>
          </a:prstGeom>
          <a:ln w="9525">
            <a:solidFill>
              <a:srgbClr val="33B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093875" y="6763643"/>
            <a:ext cx="18293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06000" y="7268468"/>
            <a:ext cx="625376" cy="476250"/>
          </a:xfrm>
          <a:prstGeom prst="ellipse">
            <a:avLst/>
          </a:prstGeom>
          <a:ln w="9525">
            <a:solidFill>
              <a:srgbClr val="33B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06025" y="7354193"/>
            <a:ext cx="3015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9229725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Skills Map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870561" y="92297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25347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VISIÓN GENERAL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514475"/>
            <a:ext cx="1760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spc="-51" kern="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habilidades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6817668" y="3428702"/>
            <a:ext cx="4652665" cy="1333500"/>
          </a:xfrm>
          <a:prstGeom prst="roundRect">
            <a:avLst>
              <a:gd name="adj" fmla="val 11429"/>
            </a:avLst>
          </a:prstGeom>
          <a:solidFill>
            <a:srgbClr val="1A2850"/>
          </a:solidFill>
          <a:ln/>
          <a:effectLst>
            <a:outerShdw sx="100000" sy="100000" kx="0" ky="0" algn="bl" rotWithShape="0" blurRad="101600" dist="50800" dir="16200000">
              <a:srgbClr val="01A2E9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03468" y="3733502"/>
            <a:ext cx="342064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34475" y="4762202"/>
            <a:ext cx="19050" cy="53340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7" name="Shape 5"/>
          <p:cNvSpPr/>
          <p:nvPr/>
        </p:nvSpPr>
        <p:spPr>
          <a:xfrm>
            <a:off x="3143250" y="5295602"/>
            <a:ext cx="120015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8" name="Shape 6"/>
          <p:cNvSpPr/>
          <p:nvPr/>
        </p:nvSpPr>
        <p:spPr>
          <a:xfrm>
            <a:off x="3019425" y="5314652"/>
            <a:ext cx="19050" cy="53340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5848052"/>
            <a:ext cx="3771900" cy="2410420"/>
          </a:xfrm>
          <a:prstGeom prst="roundRect">
            <a:avLst>
              <a:gd name="adj" fmla="val 632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8248948"/>
            <a:ext cx="3771900" cy="952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5848052"/>
            <a:ext cx="37719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5848052"/>
            <a:ext cx="9525" cy="241042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905375" y="5848052"/>
            <a:ext cx="9525" cy="241042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4" name="Text 12"/>
          <p:cNvSpPr/>
          <p:nvPr/>
        </p:nvSpPr>
        <p:spPr>
          <a:xfrm>
            <a:off x="1457325" y="6210002"/>
            <a:ext cx="34575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57325" y="6657677"/>
            <a:ext cx="3237548" cy="1286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y desplegar aplicaciones de IA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7096125" y="5314652"/>
            <a:ext cx="19050" cy="53340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17" name="Shape 15"/>
          <p:cNvSpPr/>
          <p:nvPr/>
        </p:nvSpPr>
        <p:spPr>
          <a:xfrm>
            <a:off x="5219700" y="5848052"/>
            <a:ext cx="3771900" cy="2410420"/>
          </a:xfrm>
          <a:prstGeom prst="roundRect">
            <a:avLst>
              <a:gd name="adj" fmla="val 6323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9700" y="8248948"/>
            <a:ext cx="3771900" cy="952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9" name="Shape 17"/>
          <p:cNvSpPr/>
          <p:nvPr/>
        </p:nvSpPr>
        <p:spPr>
          <a:xfrm>
            <a:off x="5219700" y="5848052"/>
            <a:ext cx="37719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20" name="Shape 18"/>
          <p:cNvSpPr/>
          <p:nvPr/>
        </p:nvSpPr>
        <p:spPr>
          <a:xfrm>
            <a:off x="5219700" y="5848052"/>
            <a:ext cx="9525" cy="241042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982075" y="5848052"/>
            <a:ext cx="9525" cy="241042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2" name="Text 20"/>
          <p:cNvSpPr/>
          <p:nvPr/>
        </p:nvSpPr>
        <p:spPr>
          <a:xfrm>
            <a:off x="5534025" y="6210002"/>
            <a:ext cx="34575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4025" y="6657677"/>
            <a:ext cx="3237548" cy="1286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ingeniería de software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11172825" y="5314652"/>
            <a:ext cx="19050" cy="53340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25" name="Shape 23"/>
          <p:cNvSpPr/>
          <p:nvPr/>
        </p:nvSpPr>
        <p:spPr>
          <a:xfrm>
            <a:off x="9296400" y="5848052"/>
            <a:ext cx="37719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296400" y="8219777"/>
            <a:ext cx="3771900" cy="952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7" name="Shape 25"/>
          <p:cNvSpPr/>
          <p:nvPr/>
        </p:nvSpPr>
        <p:spPr>
          <a:xfrm>
            <a:off x="9296400" y="5848052"/>
            <a:ext cx="37719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28" name="Shape 26"/>
          <p:cNvSpPr/>
          <p:nvPr/>
        </p:nvSpPr>
        <p:spPr>
          <a:xfrm>
            <a:off x="9296400" y="5848052"/>
            <a:ext cx="9525" cy="238125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058775" y="5848052"/>
            <a:ext cx="9525" cy="238125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30" name="Text 28"/>
          <p:cNvSpPr/>
          <p:nvPr/>
        </p:nvSpPr>
        <p:spPr>
          <a:xfrm>
            <a:off x="9610725" y="6210002"/>
            <a:ext cx="34575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0725" y="6657677"/>
            <a:ext cx="3237548" cy="870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agentes de código</a:t>
            </a:r>
            <a:endParaRPr lang="en-US" sz="2850" dirty="0"/>
          </a:p>
        </p:txBody>
      </p:sp>
      <p:sp>
        <p:nvSpPr>
          <p:cNvPr id="32" name="Shape 30"/>
          <p:cNvSpPr/>
          <p:nvPr/>
        </p:nvSpPr>
        <p:spPr>
          <a:xfrm>
            <a:off x="15249525" y="5314652"/>
            <a:ext cx="19050" cy="53340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33" name="Shape 31"/>
          <p:cNvSpPr/>
          <p:nvPr/>
        </p:nvSpPr>
        <p:spPr>
          <a:xfrm>
            <a:off x="13373100" y="5848052"/>
            <a:ext cx="37719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3373100" y="8219777"/>
            <a:ext cx="3771900" cy="952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3373100" y="5848052"/>
            <a:ext cx="37719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36" name="Shape 34"/>
          <p:cNvSpPr/>
          <p:nvPr/>
        </p:nvSpPr>
        <p:spPr>
          <a:xfrm>
            <a:off x="13373100" y="5848052"/>
            <a:ext cx="9525" cy="238125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7135475" y="5848052"/>
            <a:ext cx="9525" cy="2381250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38" name="Text 36"/>
          <p:cNvSpPr/>
          <p:nvPr/>
        </p:nvSpPr>
        <p:spPr>
          <a:xfrm>
            <a:off x="13687425" y="6210002"/>
            <a:ext cx="34575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687425" y="6657677"/>
            <a:ext cx="3237548" cy="870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forma a lo que se construye</a:t>
            </a:r>
            <a:endParaRPr lang="en-US" sz="2850" dirty="0"/>
          </a:p>
        </p:txBody>
      </p:sp>
      <p:sp>
        <p:nvSpPr>
          <p:cNvPr id="40" name="Text 38"/>
          <p:cNvSpPr/>
          <p:nvPr/>
        </p:nvSpPr>
        <p:spPr>
          <a:xfrm>
            <a:off x="1143000" y="9229725"/>
            <a:ext cx="48281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común: aprendizaje continuo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6870561" y="92297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1A2E9">
                  <a:alpha val="7000"/>
                </a:srgbClr>
              </a:gs>
              <a:gs pos="100000">
                <a:srgbClr val="01A2E9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525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1A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01 DE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581424"/>
            <a:ext cx="1760220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913"/>
              </a:lnSpc>
              <a:buNone/>
            </a:pPr>
            <a:r>
              <a:rPr lang="en-US" sz="15000" dirty="0">
                <a:solidFill>
                  <a:srgbClr val="01A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1143000" y="4581674"/>
            <a:ext cx="13735050" cy="195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7200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y desplegar aplicaciones de IA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143000" y="6882854"/>
            <a:ext cx="12753975" cy="1051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21"/>
              </a:lnSpc>
              <a:buNone/>
            </a:pPr>
            <a:r>
              <a:rPr lang="en-US" sz="2850" dirty="0">
                <a:solidFill>
                  <a:srgbClr val="B8E4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sistemas confiables a partir de componentes cuyas salidas no son predecibles.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143000" y="9229725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E4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Skills Map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870561" y="92297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E4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4054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2708" y="1090613"/>
            <a:ext cx="4572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4" name="Text 2"/>
          <p:cNvSpPr/>
          <p:nvPr/>
        </p:nvSpPr>
        <p:spPr>
          <a:xfrm>
            <a:off x="2310408" y="952500"/>
            <a:ext cx="32589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APLICACIONES DE 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14475"/>
            <a:ext cx="1760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spc="-51" kern="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competencias de aplicaciones de IA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143000" y="2952750"/>
            <a:ext cx="5156150" cy="2814638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5425" y="3305175"/>
            <a:ext cx="489643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LLM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495425" y="3981450"/>
            <a:ext cx="4584839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ventana de contexto, parámetros de muestreo y uso de herramientas.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65850" y="2952750"/>
            <a:ext cx="5156150" cy="2814638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18275" y="3305175"/>
            <a:ext cx="489643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Fundamentar con datos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918275" y="3981450"/>
            <a:ext cx="458483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RAG, grafos de conocimiento y capas semánticas para dar buen contexto.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988701" y="2952750"/>
            <a:ext cx="5156150" cy="2814638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1126" y="3305175"/>
            <a:ext cx="489643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agénticos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341126" y="3981450"/>
            <a:ext cx="4584839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Flujos, herramientas, memoria, multiagente y guardrails de seguridad.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6034088"/>
            <a:ext cx="5156150" cy="2814638"/>
          </a:xfrm>
          <a:prstGeom prst="roundRect">
            <a:avLst>
              <a:gd name="adj" fmla="val 5415"/>
            </a:avLst>
          </a:prstGeom>
          <a:solidFill>
            <a:srgbClr val="1A2850"/>
          </a:solidFill>
          <a:ln/>
        </p:spPr>
      </p:sp>
      <p:sp>
        <p:nvSpPr>
          <p:cNvPr id="16" name="Text 14"/>
          <p:cNvSpPr/>
          <p:nvPr/>
        </p:nvSpPr>
        <p:spPr>
          <a:xfrm>
            <a:off x="1485900" y="6376988"/>
            <a:ext cx="491738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guiado por evals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485900" y="7053263"/>
            <a:ext cx="4604461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E6F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con evaluaciones y análisis de errores para decidir qué probar.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565850" y="6034088"/>
            <a:ext cx="5156150" cy="2814638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8275" y="6386513"/>
            <a:ext cx="489643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en producción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6918275" y="7062788"/>
            <a:ext cx="458483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Observabilidad, detección de drift, costo y latencia a escala.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1988701" y="6034088"/>
            <a:ext cx="5156150" cy="2814638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1126" y="6386513"/>
            <a:ext cx="489643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ML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2341126" y="7062788"/>
            <a:ext cx="458483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supervisado, sesgo/varianza e ingeniería de datos.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143000" y="9229725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Skills Map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870561" y="92297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4054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2708" y="1090613"/>
            <a:ext cx="4572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4" name="Text 2"/>
          <p:cNvSpPr/>
          <p:nvPr/>
        </p:nvSpPr>
        <p:spPr>
          <a:xfrm>
            <a:off x="2310408" y="952500"/>
            <a:ext cx="32589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APLICACIONES DE 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14475"/>
            <a:ext cx="1760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spc="-51" kern="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evaluación y análisis de errores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143000" y="3427214"/>
            <a:ext cx="3571875" cy="1704975"/>
          </a:xfrm>
          <a:prstGeom prst="roundRect">
            <a:avLst>
              <a:gd name="adj" fmla="val 8939"/>
            </a:avLst>
          </a:prstGeom>
          <a:solidFill>
            <a:srgbClr val="FFFFFF"/>
          </a:solidFill>
          <a:ln w="19050">
            <a:solidFill>
              <a:srgbClr val="01A2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6850" y="3789164"/>
            <a:ext cx="32165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6850" y="4217789"/>
            <a:ext cx="321659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714875" y="4270177"/>
            <a:ext cx="5715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10" name="Shape 8"/>
          <p:cNvSpPr/>
          <p:nvPr/>
        </p:nvSpPr>
        <p:spPr>
          <a:xfrm>
            <a:off x="5286375" y="3436739"/>
            <a:ext cx="3571875" cy="1685925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9525">
            <a:solidFill>
              <a:srgbClr val="C9D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00700" y="3789164"/>
            <a:ext cx="32375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00700" y="4217789"/>
            <a:ext cx="323754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858250" y="4270177"/>
            <a:ext cx="5715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14" name="Shape 12"/>
          <p:cNvSpPr/>
          <p:nvPr/>
        </p:nvSpPr>
        <p:spPr>
          <a:xfrm>
            <a:off x="9429750" y="3436739"/>
            <a:ext cx="3571875" cy="1685925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9525">
            <a:solidFill>
              <a:srgbClr val="C9D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44075" y="3789164"/>
            <a:ext cx="32375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44075" y="4217789"/>
            <a:ext cx="323754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errores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13001625" y="4270177"/>
            <a:ext cx="5715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18" name="Shape 16"/>
          <p:cNvSpPr/>
          <p:nvPr/>
        </p:nvSpPr>
        <p:spPr>
          <a:xfrm>
            <a:off x="13573125" y="3160514"/>
            <a:ext cx="3571875" cy="2238375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9525">
            <a:solidFill>
              <a:srgbClr val="C9D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87450" y="3512939"/>
            <a:ext cx="32375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887450" y="3941564"/>
            <a:ext cx="3031522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el siguiente paso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3063180" y="6275189"/>
            <a:ext cx="12161639" cy="19050"/>
          </a:xfrm>
          <a:prstGeom prst="rect">
            <a:avLst/>
          </a:prstGeom>
          <a:solidFill>
            <a:srgbClr val="7DCEF4"/>
          </a:solidFill>
          <a:ln/>
        </p:spPr>
      </p:sp>
      <p:sp>
        <p:nvSpPr>
          <p:cNvPr id="22" name="Shape 20"/>
          <p:cNvSpPr/>
          <p:nvPr/>
        </p:nvSpPr>
        <p:spPr>
          <a:xfrm>
            <a:off x="3063180" y="5932289"/>
            <a:ext cx="19050" cy="361950"/>
          </a:xfrm>
          <a:prstGeom prst="rect">
            <a:avLst/>
          </a:prstGeom>
          <a:solidFill>
            <a:srgbClr val="7DCEF4"/>
          </a:solidFill>
          <a:ln/>
        </p:spPr>
      </p:sp>
      <p:sp>
        <p:nvSpPr>
          <p:cNvPr id="23" name="Shape 21"/>
          <p:cNvSpPr/>
          <p:nvPr/>
        </p:nvSpPr>
        <p:spPr>
          <a:xfrm>
            <a:off x="15205770" y="5932289"/>
            <a:ext cx="19050" cy="361950"/>
          </a:xfrm>
          <a:prstGeom prst="rect">
            <a:avLst/>
          </a:prstGeom>
          <a:solidFill>
            <a:srgbClr val="7DCEF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6827639"/>
            <a:ext cx="16002000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7218164"/>
            <a:ext cx="553212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Determinista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143000" y="7780139"/>
            <a:ext cx="553212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en código para salidas verificables.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629400" y="7218164"/>
            <a:ext cx="553212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LLM-as-a-judge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6629400" y="7780139"/>
            <a:ext cx="5180076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califica según criterios definidos.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2115800" y="7218164"/>
            <a:ext cx="553212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 en el ciclo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2115800" y="7780139"/>
            <a:ext cx="553212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experta donde el juicio es crítico.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143000" y="9229725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Skills Map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870561" y="92297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1A2E9">
                  <a:alpha val="7000"/>
                </a:srgbClr>
              </a:gs>
              <a:gs pos="100000">
                <a:srgbClr val="01A2E9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525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1A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02 DE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581424"/>
            <a:ext cx="1760220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913"/>
              </a:lnSpc>
              <a:buNone/>
            </a:pPr>
            <a:r>
              <a:rPr lang="en-US" sz="15000" dirty="0">
                <a:solidFill>
                  <a:srgbClr val="01A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1143000" y="4581674"/>
            <a:ext cx="13735050" cy="195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7200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ingeniería de software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143000" y="6882854"/>
            <a:ext cx="12753975" cy="1051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21"/>
              </a:lnSpc>
              <a:buNone/>
            </a:pPr>
            <a:r>
              <a:rPr lang="en-US" sz="2850" dirty="0">
                <a:solidFill>
                  <a:srgbClr val="B8E4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cómo funciona el software para dirigir al agente con el lenguaje preciso de la ingeniería.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143000" y="9229725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E4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Skills Map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870561" y="92297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E4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4054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2708" y="1090613"/>
            <a:ext cx="4572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4" name="Text 2"/>
          <p:cNvSpPr/>
          <p:nvPr/>
        </p:nvSpPr>
        <p:spPr>
          <a:xfrm>
            <a:off x="2310408" y="952500"/>
            <a:ext cx="41643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 DE SOFTWARE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14475"/>
            <a:ext cx="1760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spc="-51" kern="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competencias y sus compensaciones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143000" y="3195638"/>
            <a:ext cx="8382000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4252913"/>
            <a:ext cx="8382000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633788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3452813"/>
            <a:ext cx="84658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full-stack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5310188"/>
            <a:ext cx="8382000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691063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4510088"/>
            <a:ext cx="84658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datos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6367463"/>
            <a:ext cx="8382000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748338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5567363"/>
            <a:ext cx="84658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sistemas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143000" y="7424737"/>
            <a:ext cx="8382000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805613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6624638"/>
            <a:ext cx="84658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fiabilidad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143000" y="8482013"/>
            <a:ext cx="8382000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7862888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7681912"/>
            <a:ext cx="84658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y operación en producción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10439400" y="3133725"/>
            <a:ext cx="6705600" cy="5419725"/>
          </a:xfrm>
          <a:prstGeom prst="roundRect">
            <a:avLst>
              <a:gd name="adj" fmla="val 2812"/>
            </a:avLst>
          </a:prstGeom>
          <a:solidFill>
            <a:srgbClr val="E6F6FD"/>
          </a:solidFill>
          <a:ln/>
        </p:spPr>
      </p:sp>
      <p:sp>
        <p:nvSpPr>
          <p:cNvPr id="23" name="Text 21"/>
          <p:cNvSpPr/>
          <p:nvPr/>
        </p:nvSpPr>
        <p:spPr>
          <a:xfrm>
            <a:off x="10934700" y="3629025"/>
            <a:ext cx="6286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464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COMPENSACIONES A DIRIGIR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934700" y="4191000"/>
            <a:ext cx="1583829" cy="600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DCE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91875" y="4295775"/>
            <a:ext cx="114567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Latencia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2651879" y="4191000"/>
            <a:ext cx="2352824" cy="600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DCE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09054" y="4295775"/>
            <a:ext cx="191467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0934700" y="4924425"/>
            <a:ext cx="2120503" cy="600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DCE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91875" y="5029200"/>
            <a:ext cx="16823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3188553" y="4924425"/>
            <a:ext cx="1757065" cy="600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DCE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445728" y="5029200"/>
            <a:ext cx="13189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Fiabilidad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0934700" y="5657850"/>
            <a:ext cx="2419945" cy="600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DCE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191875" y="5762625"/>
            <a:ext cx="198179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Mantenibilidad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3487995" y="5657850"/>
            <a:ext cx="2001738" cy="600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DCE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45170" y="5762625"/>
            <a:ext cx="156358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Simplicidad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0934700" y="6391275"/>
            <a:ext cx="1248966" cy="6000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DCE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91875" y="6496050"/>
            <a:ext cx="81081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0934700" y="7258050"/>
            <a:ext cx="58864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sabe que existen, el agente las decide por usted.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1143000" y="9229725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Skills Map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870561" y="92297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1A2E9">
                  <a:alpha val="7000"/>
                </a:srgbClr>
              </a:gs>
              <a:gs pos="100000">
                <a:srgbClr val="01A2E9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525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1A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03 DE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061543"/>
            <a:ext cx="1760220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913"/>
              </a:lnSpc>
              <a:buNone/>
            </a:pPr>
            <a:r>
              <a:rPr lang="en-US" sz="15000" dirty="0">
                <a:solidFill>
                  <a:srgbClr val="01A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1143000" y="5061793"/>
            <a:ext cx="1466850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7200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agentes de código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143000" y="6402884"/>
            <a:ext cx="12753975" cy="1051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21"/>
              </a:lnSpc>
              <a:buNone/>
            </a:pPr>
            <a:r>
              <a:rPr lang="en-US" sz="2850" dirty="0">
                <a:solidFill>
                  <a:srgbClr val="B8E4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Dirigir agentes —cuánto intervenir y cuánto delegar— para construir software robusto sin desperdiciar tiempo ni tokens.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143000" y="9229725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E4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Skills Map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870561" y="92297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E4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4054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2708" y="1090613"/>
            <a:ext cx="4572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4" name="Text 2"/>
          <p:cNvSpPr/>
          <p:nvPr/>
        </p:nvSpPr>
        <p:spPr>
          <a:xfrm>
            <a:off x="2310408" y="952500"/>
            <a:ext cx="3077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AGENTES DE CÓDIGO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14475"/>
            <a:ext cx="1760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spc="-51" kern="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trabajo con agentes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6467475" y="3028950"/>
            <a:ext cx="9525" cy="574357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081338"/>
            <a:ext cx="190500" cy="190500"/>
          </a:xfrm>
          <a:prstGeom prst="ellipse">
            <a:avLst/>
          </a:prstGeom>
          <a:solidFill>
            <a:srgbClr val="01A2E9"/>
          </a:solidFill>
          <a:ln/>
          <a:effectLst>
            <a:outerShdw sx="100000" sy="100000" kx="0" ky="0" algn="bl" rotWithShape="0" blurRad="101600" dist="50800" dir="16200000">
              <a:srgbClr val="01A2E9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85900" y="3028950"/>
            <a:ext cx="1036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590925"/>
            <a:ext cx="535400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43000" y="4629150"/>
            <a:ext cx="5013293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Investigar y entender el código existente. Escribir la spec: requisitos, diseño y arquitectura. Generar y revisar el plan.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801475" y="3028950"/>
            <a:ext cx="9525" cy="574357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12" name="Shape 10"/>
          <p:cNvSpPr/>
          <p:nvPr/>
        </p:nvSpPr>
        <p:spPr>
          <a:xfrm>
            <a:off x="6934200" y="3081338"/>
            <a:ext cx="190500" cy="190500"/>
          </a:xfrm>
          <a:prstGeom prst="ellipse">
            <a:avLst/>
          </a:prstGeom>
          <a:solidFill>
            <a:srgbClr val="01A2E9"/>
          </a:solidFill>
          <a:ln/>
          <a:effectLst>
            <a:outerShdw sx="100000" sy="100000" kx="0" ky="0" algn="bl" rotWithShape="0" blurRad="101600" dist="50800" dir="16200000">
              <a:srgbClr val="01A2E9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77100" y="3028950"/>
            <a:ext cx="1036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34200" y="3590925"/>
            <a:ext cx="485108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934200" y="4629150"/>
            <a:ext cx="4542377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construye con autonomía calibrada. Verificar con pruebas automáticas y revisión humana.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2268200" y="3081338"/>
            <a:ext cx="190500" cy="190500"/>
          </a:xfrm>
          <a:prstGeom prst="ellipse">
            <a:avLst/>
          </a:prstGeom>
          <a:solidFill>
            <a:srgbClr val="01A2E9"/>
          </a:solidFill>
          <a:ln/>
          <a:effectLst>
            <a:outerShdw sx="100000" sy="100000" kx="0" ky="0" algn="bl" rotWithShape="0" blurRad="101600" dist="50800" dir="16200000">
              <a:srgbClr val="01A2E9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611100" y="3028950"/>
            <a:ext cx="1036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268200" y="3590925"/>
            <a:ext cx="502310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Desplegar y monitorear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268200" y="5400675"/>
            <a:ext cx="5023104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Desplegar con CI/CD y controles humanos. Agentes que vigilan logs y proponen mejoras.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43000" y="9229725"/>
            <a:ext cx="82981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Proceso iterativo: cada fase puede volver a la anterior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870561" y="92297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4054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2708" y="1090613"/>
            <a:ext cx="4572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4" name="Text 2"/>
          <p:cNvSpPr/>
          <p:nvPr/>
        </p:nvSpPr>
        <p:spPr>
          <a:xfrm>
            <a:off x="2310408" y="952500"/>
            <a:ext cx="30779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AGENTES DE CÓDIGO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14475"/>
            <a:ext cx="1760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spc="-51" kern="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competencias con agentes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143000" y="2952750"/>
            <a:ext cx="16002000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4419600"/>
            <a:ext cx="16002000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409950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05000" y="3228975"/>
            <a:ext cx="64960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Dirigir el flujo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810500" y="3352800"/>
            <a:ext cx="961453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esfuerzo humano y de agente en cada fase, y cuándo volver atrás.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43000" y="5886450"/>
            <a:ext cx="16002000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876800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05000" y="4695825"/>
            <a:ext cx="64960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Habilitar autonomía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810500" y="4819650"/>
            <a:ext cx="961453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de delegación, gestión de contexto, agentes en paralelo y permisos.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43000" y="6981825"/>
            <a:ext cx="16002000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6343650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05000" y="6162675"/>
            <a:ext cx="64960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el trabajo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810500" y="6286500"/>
            <a:ext cx="102679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funcionales y de comportamiento, revisión agéntica y auditorías.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143000" y="8077200"/>
            <a:ext cx="16002000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7439025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05000" y="7258050"/>
            <a:ext cx="64960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Personalizar el entorno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810500" y="7381875"/>
            <a:ext cx="102679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MCP, hooks y contexto permanente como AGENTS.md.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143000" y="9172575"/>
            <a:ext cx="16002000" cy="9525"/>
          </a:xfrm>
          <a:prstGeom prst="rect">
            <a:avLst/>
          </a:prstGeom>
          <a:solidFill>
            <a:srgbClr val="C9D0DC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8534400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905000" y="8353425"/>
            <a:ext cx="64960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del agente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810500" y="8477250"/>
            <a:ext cx="102679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un harness envuelve al LLM: búsqueda, contexto y subagentes.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143000" y="9563100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Skills Map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870561" y="9563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1A2E9">
                  <a:alpha val="7000"/>
                </a:srgbClr>
              </a:gs>
              <a:gs pos="100000">
                <a:srgbClr val="01A2E9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525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1A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04 DE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314849"/>
            <a:ext cx="1760220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913"/>
              </a:lnSpc>
              <a:buNone/>
            </a:pPr>
            <a:r>
              <a:rPr lang="en-US" sz="15000" dirty="0">
                <a:solidFill>
                  <a:srgbClr val="01A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1143000" y="5315099"/>
            <a:ext cx="1466850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7200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forma a lo que se construye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143000" y="6656189"/>
            <a:ext cx="13620750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21"/>
              </a:lnSpc>
              <a:buNone/>
            </a:pPr>
            <a:r>
              <a:rPr lang="en-US" sz="2850" dirty="0">
                <a:solidFill>
                  <a:srgbClr val="B8E4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qué debe construirse, no solo implementar lo que otro especificó.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143000" y="9229725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E4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Skills Map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870561" y="92297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E4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4054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2708" y="1090613"/>
            <a:ext cx="457200" cy="19050"/>
          </a:xfrm>
          <a:prstGeom prst="rect">
            <a:avLst/>
          </a:prstGeom>
          <a:solidFill>
            <a:srgbClr val="01A2E9"/>
          </a:solidFill>
          <a:ln/>
        </p:spPr>
      </p:sp>
      <p:sp>
        <p:nvSpPr>
          <p:cNvPr id="4" name="Text 2"/>
          <p:cNvSpPr/>
          <p:nvPr/>
        </p:nvSpPr>
        <p:spPr>
          <a:xfrm>
            <a:off x="2310408" y="952500"/>
            <a:ext cx="16295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 FORMA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14475"/>
            <a:ext cx="1760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spc="-51" kern="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competencias para dar forma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143000" y="2952750"/>
            <a:ext cx="7867650" cy="2905125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71625" y="3381375"/>
            <a:ext cx="77114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71625" y="3848100"/>
            <a:ext cx="77114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Conducir el ciclo de construcción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71625" y="4629150"/>
            <a:ext cx="722071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Prototipo, MVP o sistema empresarial: decidir el siguiente paso con sesgo a la acción.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277350" y="2952750"/>
            <a:ext cx="7867650" cy="2905125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05975" y="3381375"/>
            <a:ext cx="77114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05975" y="3848100"/>
            <a:ext cx="77114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Tomar decisiones de producto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9705975" y="4629150"/>
            <a:ext cx="722071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Sentido de producto, diseño y negocio, basado en empatía con el usuario.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143000" y="6124575"/>
            <a:ext cx="7867650" cy="2905125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1625" y="6553200"/>
            <a:ext cx="77114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71625" y="7019925"/>
            <a:ext cx="77114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 y liderar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571625" y="7800975"/>
            <a:ext cx="722071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Alinear marketing, finanzas y legal; explicar qué es técnicamente viable.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277350" y="6124575"/>
            <a:ext cx="7867650" cy="2905125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05975" y="6553200"/>
            <a:ext cx="77114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05975" y="7019925"/>
            <a:ext cx="77114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 con alta agencia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9705975" y="7800975"/>
            <a:ext cx="722071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oportunidades, ejecutar de punta a punta y medir por el valor creado.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43000" y="9410700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Skills Map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870561" y="94107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8106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REFERENCIA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514475"/>
            <a:ext cx="1760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spc="-51" kern="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Glosario de conceptos clave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4108400"/>
            <a:ext cx="7620000" cy="952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177034"/>
            <a:ext cx="29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038600" y="3205609"/>
            <a:ext cx="486613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que genera texto token a token a partir de un contexto.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0" y="4108400"/>
            <a:ext cx="7620000" cy="952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0" y="3177034"/>
            <a:ext cx="29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420600" y="3205609"/>
            <a:ext cx="486613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que el modelo recibe en su ventana para responder.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5258842"/>
            <a:ext cx="7620000" cy="952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327475"/>
            <a:ext cx="29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038600" y="4356050"/>
            <a:ext cx="486613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datos relevantes e incluirlos en el prompt.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0" y="5258842"/>
            <a:ext cx="7620000" cy="952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0" y="4327475"/>
            <a:ext cx="29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420600" y="4356050"/>
            <a:ext cx="486613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dentro de un harness que decide su siguiente paso y usa herramientas.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6409283"/>
            <a:ext cx="7620000" cy="952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5477917"/>
            <a:ext cx="29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038600" y="5506492"/>
            <a:ext cx="486613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abierto para conectar modelos con herramientas y datos.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525000" y="6409283"/>
            <a:ext cx="7620000" cy="952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0" y="5477917"/>
            <a:ext cx="29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420600" y="5506492"/>
            <a:ext cx="486613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sistemática que mide la calidad de las salidas.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43000" y="7559725"/>
            <a:ext cx="7620000" cy="952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6628358"/>
            <a:ext cx="29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038600" y="6656933"/>
            <a:ext cx="486613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de requisitos, diseño y arquitectura que guía al agente.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525000" y="7559725"/>
            <a:ext cx="7620000" cy="952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0" y="6628358"/>
            <a:ext cx="29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420600" y="6656933"/>
            <a:ext cx="486613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Degradación del rendimiento cuando cambian los datos reales.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43000" y="8710166"/>
            <a:ext cx="7620000" cy="952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7778800"/>
            <a:ext cx="29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038600" y="7807375"/>
            <a:ext cx="486613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Llevar seguridad y pruebas al inicio del ciclo de desarrollo.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525000" y="8710166"/>
            <a:ext cx="7620000" cy="952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0" y="7778800"/>
            <a:ext cx="29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2420600" y="7807375"/>
            <a:ext cx="486613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4A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mínima para validar valor con usuarios reales.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43000" y="9229725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Skills Map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870561" y="92297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1A2E9">
                  <a:alpha val="7000"/>
                </a:srgbClr>
              </a:gs>
              <a:gs pos="100000">
                <a:srgbClr val="01A2E9">
                  <a:alpha val="0"/>
                </a:srgbClr>
              </a:gs>
            </a:gsLst>
            <a:lin ang="5400000" scaled="0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6000"/>
          </a:blip>
          <a:stretch>
            <a:fillRect/>
          </a:stretch>
        </p:blipFill>
        <p:spPr>
          <a:xfrm>
            <a:off x="10624989" y="1333500"/>
            <a:ext cx="8234511" cy="819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9525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1A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COMÚN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3688110"/>
            <a:ext cx="14668500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163"/>
              </a:lnSpc>
              <a:buNone/>
            </a:pPr>
            <a:r>
              <a:rPr lang="en-US" sz="8400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continuo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1143000" y="5189190"/>
            <a:ext cx="1177290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3000" dirty="0">
                <a:solidFill>
                  <a:srgbClr val="B8E4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 la frontera tecnológica, probar herramientas nuevas y ajustar los flujos de trabajo a medida que cambian las buenas prácticas.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43000" y="9229725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E4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Skills Map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870561" y="92297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E4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9917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REFERENCIAS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514475"/>
            <a:ext cx="1760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spc="-51" kern="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16002000" cy="9525"/>
          </a:xfrm>
          <a:prstGeom prst="rect">
            <a:avLst/>
          </a:prstGeom>
          <a:solidFill>
            <a:srgbClr val="C9D0D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" y="4524375"/>
            <a:ext cx="16002000" cy="9525"/>
          </a:xfrm>
          <a:prstGeom prst="rect">
            <a:avLst/>
          </a:prstGeom>
          <a:solidFill>
            <a:srgbClr val="C9D0D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3000" y="39433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ago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38500" y="3867150"/>
            <a:ext cx="15297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— The AI Engineering Skills Map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5438775"/>
            <a:ext cx="16002000" cy="9525"/>
          </a:xfrm>
          <a:prstGeom prst="rect">
            <a:avLst/>
          </a:prstGeom>
          <a:solidFill>
            <a:srgbClr val="C9D0D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43000" y="48577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ago 2026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38500" y="4781550"/>
            <a:ext cx="15297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 — Building and Deploying AI Applications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143000" y="6353175"/>
            <a:ext cx="16002000" cy="9525"/>
          </a:xfrm>
          <a:prstGeom prst="rect">
            <a:avLst/>
          </a:prstGeom>
          <a:solidFill>
            <a:srgbClr val="C9D0D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43000" y="57721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ago 2026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38500" y="5695950"/>
            <a:ext cx="15297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3 — Software Engineering Fundamentals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43000" y="7267575"/>
            <a:ext cx="16002000" cy="9525"/>
          </a:xfrm>
          <a:prstGeom prst="rect">
            <a:avLst/>
          </a:prstGeom>
          <a:solidFill>
            <a:srgbClr val="C9D0D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43000" y="66865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sep 2026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38500" y="6610350"/>
            <a:ext cx="15297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4 — Using Coding Agents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143000" y="8181975"/>
            <a:ext cx="16002000" cy="9525"/>
          </a:xfrm>
          <a:prstGeom prst="rect">
            <a:avLst/>
          </a:prstGeom>
          <a:solidFill>
            <a:srgbClr val="C9D0D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43000" y="76009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28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sep 2026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38500" y="7524750"/>
            <a:ext cx="15297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A2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5 — Shaping the Build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43000" y="9229725"/>
            <a:ext cx="58842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Andrew Ng · The Batch · DeepLearning.AI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870561" y="9229725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5097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1A2E9"/>
                </a:solidFill>
                <a:latin typeface="Courier New"/>
              </a:rPr>
              <a:t>CASO PRÁCTICO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6517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0" spc="-110">
                <a:solidFill>
                  <a:srgbClr val="01A2E9"/>
                </a:solidFill>
                <a:latin typeface="Arial"/>
              </a:rPr>
              <a:t>Innova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581144"/>
            <a:ext cx="14173200" cy="19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spc="-64">
                <a:solidFill>
                  <a:srgbClr val="FFFFFF"/>
                </a:solidFill>
                <a:latin typeface="Arial"/>
              </a:rPr>
              <a:t>Las competencias del mapa, juntas en un proyecto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223760"/>
            <a:ext cx="13258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50" b="0">
                <a:solidFill>
                  <a:srgbClr val="B8E4F9"/>
                </a:solidFill>
                <a:latin typeface="Arial"/>
              </a:rPr>
              <a:t>Un copiloto de IA para un centro de innovación ficticio que atiende MIPYMES de Bolívar. Construido paso a paso, con 11 versiones que puedes revisar en GitHub.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226296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E4F9"/>
                </a:solidFill>
                <a:latin typeface="Courier New"/>
              </a:rPr>
              <a:t>AI Engineering Skills Map · Caso práctico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87800" y="922629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>
                <a:solidFill>
                  <a:srgbClr val="B8E4F9"/>
                </a:solidFill>
                <a:latin typeface="Courier New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5097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88136"/>
            <a:ext cx="457200" cy="18288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5097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17904"/>
            <a:ext cx="1600200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0" spc="-51">
                <a:solidFill>
                  <a:srgbClr val="1A2850"/>
                </a:solidFill>
                <a:latin typeface="Arial"/>
              </a:rPr>
              <a:t>Del problema a una propuesta, en una conversación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926080"/>
            <a:ext cx="507492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0472" y="3273552"/>
            <a:ext cx="43799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283BA"/>
                </a:solidFill>
                <a:latin typeface="Courier New"/>
              </a:rPr>
              <a:t>PROCESO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3685032"/>
            <a:ext cx="43799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2850"/>
                </a:solidFill>
                <a:latin typeface="Arial"/>
              </a:rPr>
              <a:t>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4370832"/>
            <a:ext cx="437997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Una empresa escribe; alguien del centro la entrevista, encuadra el caso, hace el análisis a mano y arma la oferta. Semanas.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5989320"/>
            <a:ext cx="5074920" cy="2880360"/>
          </a:xfrm>
          <a:prstGeom prst="rect">
            <a:avLst/>
          </a:prstGeom>
          <a:solidFill>
            <a:srgbClr val="1A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6336792"/>
            <a:ext cx="43799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1A2E9"/>
                </a:solidFill>
                <a:latin typeface="Courier New"/>
              </a:rPr>
              <a:t>INNOVA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6748272"/>
            <a:ext cx="43799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Arial"/>
              </a:rPr>
              <a:t>La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7434071"/>
            <a:ext cx="4379976" cy="125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E6F6FD"/>
                </a:solidFill>
                <a:latin typeface="Arial"/>
              </a:rPr>
              <a:t>Diagnóstico → línea de trabajo → servicio del catálogo con cita → simulación "what if" → pre-propuesta.</a:t>
            </a:r>
          </a:p>
        </p:txBody>
      </p:sp>
      <p:pic>
        <p:nvPicPr>
          <p:cNvPr id="14" name="Picture 13" descr="hotel-getsema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9" y="2942710"/>
            <a:ext cx="6035040" cy="336830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0" y="64008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488"/>
                </a:solidFill>
                <a:latin typeface="Courier New"/>
              </a:rPr>
              <a:t>Ilustración generada con IA (Gemini)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938760" y="2926080"/>
            <a:ext cx="4206240" cy="594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A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0" y="3246120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283BA"/>
                </a:solidFill>
                <a:latin typeface="Courier New"/>
              </a:rPr>
              <a:t>EL CASO DE LA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0" y="37033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2850"/>
                </a:solidFill>
                <a:latin typeface="Arial"/>
              </a:rPr>
              <a:t>Hotel Brisas de Getsemaní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0" y="4800600"/>
            <a:ext cx="361188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24 habitaciones · Cartagena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Filas de hasta 40 min en el check-in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2 recepcionistas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18 huéspedes por hora en el pico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6 minutos por check-in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Quejas en las reseñas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6903720"/>
            <a:ext cx="60350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2850"/>
                </a:solidFill>
                <a:latin typeface="Arial"/>
              </a:rPr>
              <a:t>¿Por qué no solo IA? </a:t>
            </a:r>
            <a:r>
              <a:rPr sz="1900" b="0">
                <a:solidFill>
                  <a:srgbClr val="4A5266"/>
                </a:solidFill>
                <a:latin typeface="Arial"/>
              </a:rPr>
              <a:t>El LLM entiende y redacta; los precios salen del catálogo, los cálculos de una herramienta y la decisión es de una persona.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9226296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488"/>
                </a:solidFill>
                <a:latin typeface="Courier New"/>
              </a:rPr>
              <a:t>AI Engineering Skills Map · Caso práctico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87800" y="922629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>
                <a:solidFill>
                  <a:srgbClr val="6B7488"/>
                </a:solidFill>
                <a:latin typeface="Courier New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5097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88136"/>
            <a:ext cx="457200" cy="18288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5097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EL RECORRIDO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17904"/>
            <a:ext cx="1600200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0" spc="-51">
                <a:solidFill>
                  <a:srgbClr val="1A2850"/>
                </a:solidFill>
                <a:latin typeface="Arial"/>
              </a:rPr>
              <a:t>11 pasos, 11 tags de git</a:t>
            </a:r>
          </a:p>
        </p:txBody>
      </p:sp>
      <p:sp>
        <p:nvSpPr>
          <p:cNvPr id="6" name="Rectangle 5"/>
          <p:cNvSpPr/>
          <p:nvPr/>
        </p:nvSpPr>
        <p:spPr>
          <a:xfrm>
            <a:off x="1623060" y="4677156"/>
            <a:ext cx="14630400" cy="18288"/>
          </a:xfrm>
          <a:prstGeom prst="rect">
            <a:avLst/>
          </a:prstGeom>
          <a:solidFill>
            <a:srgbClr val="C9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4206240"/>
            <a:ext cx="960120" cy="960120"/>
          </a:xfrm>
          <a:prstGeom prst="ellipse">
            <a:avLst/>
          </a:prstGeom>
          <a:solidFill>
            <a:srgbClr val="7DC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1A2850"/>
                </a:solidFill>
                <a:latin typeface="Arial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9495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A2850"/>
                </a:solidFill>
                <a:latin typeface="Arial"/>
              </a:rPr>
              <a:t>Dar forma</a:t>
            </a:r>
          </a:p>
        </p:txBody>
      </p:sp>
      <p:sp>
        <p:nvSpPr>
          <p:cNvPr id="9" name="Oval 8"/>
          <p:cNvSpPr/>
          <p:nvPr/>
        </p:nvSpPr>
        <p:spPr>
          <a:xfrm>
            <a:off x="2606040" y="4206240"/>
            <a:ext cx="960120" cy="960120"/>
          </a:xfrm>
          <a:prstGeom prst="ellipse">
            <a:avLst/>
          </a:prstGeom>
          <a:solidFill>
            <a:srgbClr val="1A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539495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A2850"/>
                </a:solidFill>
                <a:latin typeface="Arial"/>
              </a:rPr>
              <a:t>Entorno del agente</a:t>
            </a:r>
          </a:p>
        </p:txBody>
      </p:sp>
      <p:sp>
        <p:nvSpPr>
          <p:cNvPr id="11" name="Oval 10"/>
          <p:cNvSpPr/>
          <p:nvPr/>
        </p:nvSpPr>
        <p:spPr>
          <a:xfrm>
            <a:off x="4069080" y="4206240"/>
            <a:ext cx="960120" cy="960120"/>
          </a:xfrm>
          <a:prstGeom prst="ellipse">
            <a:avLst/>
          </a:prstGeom>
          <a:solidFill>
            <a:srgbClr val="02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539495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A2850"/>
                </a:solidFill>
                <a:latin typeface="Arial"/>
              </a:rPr>
              <a:t>Arquitectura y datos</a:t>
            </a:r>
          </a:p>
        </p:txBody>
      </p:sp>
      <p:sp>
        <p:nvSpPr>
          <p:cNvPr id="13" name="Oval 12"/>
          <p:cNvSpPr/>
          <p:nvPr/>
        </p:nvSpPr>
        <p:spPr>
          <a:xfrm>
            <a:off x="5532120" y="4206240"/>
            <a:ext cx="960120" cy="960120"/>
          </a:xfrm>
          <a:prstGeom prst="ellipse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539495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A2850"/>
                </a:solidFill>
                <a:latin typeface="Arial"/>
              </a:rPr>
              <a:t>Primer LLM</a:t>
            </a:r>
          </a:p>
        </p:txBody>
      </p:sp>
      <p:sp>
        <p:nvSpPr>
          <p:cNvPr id="15" name="Oval 14"/>
          <p:cNvSpPr/>
          <p:nvPr/>
        </p:nvSpPr>
        <p:spPr>
          <a:xfrm>
            <a:off x="6995160" y="4206240"/>
            <a:ext cx="960120" cy="960120"/>
          </a:xfrm>
          <a:prstGeom prst="ellipse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539495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A2850"/>
                </a:solidFill>
                <a:latin typeface="Arial"/>
              </a:rPr>
              <a:t>Evals</a:t>
            </a:r>
          </a:p>
        </p:txBody>
      </p:sp>
      <p:sp>
        <p:nvSpPr>
          <p:cNvPr id="17" name="Oval 16"/>
          <p:cNvSpPr/>
          <p:nvPr/>
        </p:nvSpPr>
        <p:spPr>
          <a:xfrm>
            <a:off x="8458200" y="4206240"/>
            <a:ext cx="960120" cy="960120"/>
          </a:xfrm>
          <a:prstGeom prst="ellipse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39495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A2850"/>
                </a:solidFill>
                <a:latin typeface="Arial"/>
              </a:rPr>
              <a:t>RAG</a:t>
            </a:r>
          </a:p>
        </p:txBody>
      </p:sp>
      <p:sp>
        <p:nvSpPr>
          <p:cNvPr id="19" name="Oval 18"/>
          <p:cNvSpPr/>
          <p:nvPr/>
        </p:nvSpPr>
        <p:spPr>
          <a:xfrm>
            <a:off x="9921240" y="4206240"/>
            <a:ext cx="960120" cy="960120"/>
          </a:xfrm>
          <a:prstGeom prst="ellipse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0" name="Oval 19"/>
          <p:cNvSpPr/>
          <p:nvPr/>
        </p:nvSpPr>
        <p:spPr>
          <a:xfrm>
            <a:off x="10607040" y="4160520"/>
            <a:ext cx="310896" cy="310896"/>
          </a:xfrm>
          <a:prstGeom prst="ellipse">
            <a:avLst/>
          </a:prstGeom>
          <a:solidFill>
            <a:srgbClr val="0283B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539495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A2850"/>
                </a:solidFill>
                <a:latin typeface="Arial"/>
              </a:rPr>
              <a:t>Agente</a:t>
            </a:r>
          </a:p>
        </p:txBody>
      </p:sp>
      <p:sp>
        <p:nvSpPr>
          <p:cNvPr id="22" name="Oval 21"/>
          <p:cNvSpPr/>
          <p:nvPr/>
        </p:nvSpPr>
        <p:spPr>
          <a:xfrm>
            <a:off x="11384280" y="4206240"/>
            <a:ext cx="960120" cy="960120"/>
          </a:xfrm>
          <a:prstGeom prst="ellipse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23" name="Oval 22"/>
          <p:cNvSpPr/>
          <p:nvPr/>
        </p:nvSpPr>
        <p:spPr>
          <a:xfrm>
            <a:off x="12070080" y="4160520"/>
            <a:ext cx="310896" cy="310896"/>
          </a:xfrm>
          <a:prstGeom prst="ellipse">
            <a:avLst/>
          </a:prstGeom>
          <a:solidFill>
            <a:srgbClr val="7DCEF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09960" y="539495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A2850"/>
                </a:solidFill>
                <a:latin typeface="Arial"/>
              </a:rPr>
              <a:t>ML clásico</a:t>
            </a:r>
          </a:p>
        </p:txBody>
      </p:sp>
      <p:sp>
        <p:nvSpPr>
          <p:cNvPr id="25" name="Oval 24"/>
          <p:cNvSpPr/>
          <p:nvPr/>
        </p:nvSpPr>
        <p:spPr>
          <a:xfrm>
            <a:off x="12847320" y="4206240"/>
            <a:ext cx="960120" cy="960120"/>
          </a:xfrm>
          <a:prstGeom prst="ellipse">
            <a:avLst/>
          </a:prstGeom>
          <a:solidFill>
            <a:srgbClr val="02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26" name="Oval 25"/>
          <p:cNvSpPr/>
          <p:nvPr/>
        </p:nvSpPr>
        <p:spPr>
          <a:xfrm>
            <a:off x="13533120" y="4160520"/>
            <a:ext cx="310896" cy="310896"/>
          </a:xfrm>
          <a:prstGeom prst="ellipse">
            <a:avLst/>
          </a:prstGeom>
          <a:solidFill>
            <a:srgbClr val="1A285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73000" y="539495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A2850"/>
                </a:solidFill>
                <a:latin typeface="Arial"/>
              </a:rPr>
              <a:t>Producto y revisión</a:t>
            </a:r>
          </a:p>
        </p:txBody>
      </p:sp>
      <p:sp>
        <p:nvSpPr>
          <p:cNvPr id="28" name="Oval 27"/>
          <p:cNvSpPr/>
          <p:nvPr/>
        </p:nvSpPr>
        <p:spPr>
          <a:xfrm>
            <a:off x="14310360" y="4206240"/>
            <a:ext cx="960120" cy="960120"/>
          </a:xfrm>
          <a:prstGeom prst="ellipse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29" name="Oval 28"/>
          <p:cNvSpPr/>
          <p:nvPr/>
        </p:nvSpPr>
        <p:spPr>
          <a:xfrm>
            <a:off x="14996159" y="4160520"/>
            <a:ext cx="310896" cy="310896"/>
          </a:xfrm>
          <a:prstGeom prst="ellipse">
            <a:avLst/>
          </a:prstGeom>
          <a:solidFill>
            <a:srgbClr val="0283B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036040" y="539495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A2850"/>
                </a:solidFill>
                <a:latin typeface="Arial"/>
              </a:rPr>
              <a:t>Producción</a:t>
            </a:r>
          </a:p>
        </p:txBody>
      </p:sp>
      <p:sp>
        <p:nvSpPr>
          <p:cNvPr id="31" name="Oval 30"/>
          <p:cNvSpPr/>
          <p:nvPr/>
        </p:nvSpPr>
        <p:spPr>
          <a:xfrm>
            <a:off x="15773400" y="4206240"/>
            <a:ext cx="960120" cy="960120"/>
          </a:xfrm>
          <a:prstGeom prst="ellipse">
            <a:avLst/>
          </a:prstGeom>
          <a:solidFill>
            <a:srgbClr val="7DC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1A2850"/>
                </a:solidFill>
                <a:latin typeface="Arial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499080" y="539495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A2850"/>
                </a:solidFill>
                <a:latin typeface="Arial"/>
              </a:rPr>
              <a:t>Cierre</a:t>
            </a:r>
          </a:p>
        </p:txBody>
      </p:sp>
      <p:sp>
        <p:nvSpPr>
          <p:cNvPr id="33" name="Oval 32"/>
          <p:cNvSpPr/>
          <p:nvPr/>
        </p:nvSpPr>
        <p:spPr>
          <a:xfrm>
            <a:off x="1143000" y="7086600"/>
            <a:ext cx="310896" cy="310896"/>
          </a:xfrm>
          <a:prstGeom prst="ellipse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0200" y="70683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266"/>
                </a:solidFill>
                <a:latin typeface="Arial"/>
              </a:rPr>
              <a:t>Pilar 1 · Apps de IA</a:t>
            </a:r>
          </a:p>
        </p:txBody>
      </p:sp>
      <p:sp>
        <p:nvSpPr>
          <p:cNvPr id="35" name="Oval 34"/>
          <p:cNvSpPr/>
          <p:nvPr/>
        </p:nvSpPr>
        <p:spPr>
          <a:xfrm>
            <a:off x="5166360" y="7086600"/>
            <a:ext cx="310896" cy="310896"/>
          </a:xfrm>
          <a:prstGeom prst="ellipse">
            <a:avLst/>
          </a:prstGeom>
          <a:solidFill>
            <a:srgbClr val="02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70683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266"/>
                </a:solidFill>
                <a:latin typeface="Arial"/>
              </a:rPr>
              <a:t>Pilar 2 · Software</a:t>
            </a:r>
          </a:p>
        </p:txBody>
      </p:sp>
      <p:sp>
        <p:nvSpPr>
          <p:cNvPr id="37" name="Oval 36"/>
          <p:cNvSpPr/>
          <p:nvPr/>
        </p:nvSpPr>
        <p:spPr>
          <a:xfrm>
            <a:off x="9189720" y="7086600"/>
            <a:ext cx="310896" cy="310896"/>
          </a:xfrm>
          <a:prstGeom prst="ellipse">
            <a:avLst/>
          </a:prstGeom>
          <a:solidFill>
            <a:srgbClr val="1A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70683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266"/>
                </a:solidFill>
                <a:latin typeface="Arial"/>
              </a:rPr>
              <a:t>Pilar 3 · Agentes de código</a:t>
            </a:r>
          </a:p>
        </p:txBody>
      </p:sp>
      <p:sp>
        <p:nvSpPr>
          <p:cNvPr id="39" name="Oval 38"/>
          <p:cNvSpPr/>
          <p:nvPr/>
        </p:nvSpPr>
        <p:spPr>
          <a:xfrm>
            <a:off x="13213080" y="7086600"/>
            <a:ext cx="310896" cy="310896"/>
          </a:xfrm>
          <a:prstGeom prst="ellipse">
            <a:avLst/>
          </a:prstGeom>
          <a:solidFill>
            <a:srgbClr val="7DC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670280" y="70683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266"/>
                </a:solidFill>
                <a:latin typeface="Arial"/>
              </a:rPr>
              <a:t>Pilar 4 · Dar forma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7863840"/>
            <a:ext cx="1600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283BA"/>
                </a:solidFill>
                <a:latin typeface="Courier New"/>
              </a:rPr>
              <a:t>git checkout paso-05-rag</a:t>
            </a:r>
            <a:r>
              <a:rPr sz="2000" b="0">
                <a:solidFill>
                  <a:srgbClr val="4A5266"/>
                </a:solidFill>
                <a:latin typeface="Arial"/>
              </a:rPr>
              <a:t>  → el proyecto exactamente como estaba en ese punto, funcionando. Cada paso tiene su doc, su bitácora del agente y su "reprodúcelo tú".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9226296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488"/>
                </a:solidFill>
                <a:latin typeface="Courier New"/>
              </a:rPr>
              <a:t>AI Engineering Skills Map · Caso práctico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687800" y="922629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>
                <a:solidFill>
                  <a:srgbClr val="6B7488"/>
                </a:solidFill>
                <a:latin typeface="Courier New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5097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88136"/>
            <a:ext cx="457200" cy="18288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5097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PASO 02 ·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17904"/>
            <a:ext cx="1600200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0" spc="-51">
                <a:solidFill>
                  <a:srgbClr val="1A2850"/>
                </a:solidFill>
                <a:latin typeface="Arial"/>
              </a:rPr>
              <a:t>Arquitectura simple, en producción desde el día 1</a:t>
            </a:r>
          </a:p>
        </p:txBody>
      </p:sp>
      <p:pic>
        <p:nvPicPr>
          <p:cNvPr id="6" name="Picture 5" descr="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177" y="2788920"/>
            <a:ext cx="15913645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43000" y="7818120"/>
            <a:ext cx="5120640" cy="9144"/>
          </a:xfrm>
          <a:prstGeom prst="rect">
            <a:avLst/>
          </a:prstGeom>
          <a:solidFill>
            <a:srgbClr val="C9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7955279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2850"/>
                </a:solidFill>
                <a:latin typeface="Arial"/>
              </a:rPr>
              <a:t>Next.js + 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84124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266"/>
                </a:solidFill>
                <a:latin typeface="Arial"/>
              </a:rPr>
              <a:t>UI y API juntas; cada push despliega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7818120"/>
            <a:ext cx="5120640" cy="9144"/>
          </a:xfrm>
          <a:prstGeom prst="rect">
            <a:avLst/>
          </a:prstGeom>
          <a:solidFill>
            <a:srgbClr val="C9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7955279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2850"/>
                </a:solidFill>
                <a:latin typeface="Arial"/>
              </a:rPr>
              <a:t>Supabase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84124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266"/>
                </a:solidFill>
                <a:latin typeface="Arial"/>
              </a:rPr>
              <a:t>Postgres, vectores, auth y RLS en todas las tablas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360" y="7818120"/>
            <a:ext cx="5120640" cy="9144"/>
          </a:xfrm>
          <a:prstGeom prst="rect">
            <a:avLst/>
          </a:prstGeom>
          <a:solidFill>
            <a:srgbClr val="C9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24360" y="7955279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2850"/>
                </a:solidFill>
                <a:latin typeface="Arial"/>
              </a:rPr>
              <a:t>Claude Sonnet 5.5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24360" y="84124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266"/>
                </a:solidFill>
                <a:latin typeface="Arial"/>
              </a:rPr>
              <a:t>agente; Haiku 4.5 como juez de las evals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9226296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283BA"/>
                </a:solidFill>
                <a:latin typeface="Courier New"/>
              </a:rPr>
              <a:t>paso-02-arquitectura-datos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9226296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488"/>
                </a:solidFill>
                <a:latin typeface="Courier New"/>
              </a:rPr>
              <a:t>AI Engineering Skills Map · Caso práctico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87800" y="922629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>
                <a:solidFill>
                  <a:srgbClr val="6B7488"/>
                </a:solidFill>
                <a:latin typeface="Courier New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5097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88136"/>
            <a:ext cx="457200" cy="18288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5097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PASO 03 · FUNDAMENTOS DE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17904"/>
            <a:ext cx="1600200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0" spc="-51">
                <a:solidFill>
                  <a:srgbClr val="1A2850"/>
                </a:solidFill>
                <a:latin typeface="Arial"/>
              </a:rPr>
              <a:t>Sin datos, el modelo inventa con seguridad</a:t>
            </a:r>
          </a:p>
        </p:txBody>
      </p:sp>
      <p:pic>
        <p:nvPicPr>
          <p:cNvPr id="6" name="Picture 5" descr="paso03-rec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937201"/>
            <a:ext cx="8503920" cy="43668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43000" y="2926080"/>
            <a:ext cx="8503920" cy="4389120"/>
          </a:xfrm>
          <a:prstGeom prst="rect">
            <a:avLst/>
          </a:prstGeom>
          <a:noFill/>
          <a:ln w="9525"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7498079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488"/>
                </a:solidFill>
                <a:latin typeface="Courier New"/>
              </a:rPr>
              <a:t>Respuesta real del paso 03 (docs/evidencia/paso-03)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2926080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 spc="-60">
                <a:solidFill>
                  <a:srgbClr val="1A2850"/>
                </a:solidFill>
                <a:latin typeface="Arial"/>
              </a:rPr>
              <a:t>COP 6–12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3977639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rango que "recomendó" el modelo para el hotel…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4892040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 spc="-60">
                <a:solidFill>
                  <a:srgbClr val="0283BA"/>
                </a:solidFill>
                <a:latin typeface="Arial"/>
              </a:rPr>
              <a:t>COP 8–25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594360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…y lo que dice la ficha real del catálogo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903720"/>
            <a:ext cx="6766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A2850"/>
                </a:solidFill>
                <a:latin typeface="Arial"/>
              </a:rPr>
              <a:t>Tokens, contexto, caché: </a:t>
            </a:r>
            <a:r>
              <a:rPr sz="1900" b="0">
                <a:solidFill>
                  <a:srgbClr val="4A5266"/>
                </a:solidFill>
                <a:latin typeface="Arial"/>
              </a:rPr>
              <a:t>el caché bajó un 78,6 % el costo de la entrada. </a:t>
            </a:r>
            <a:r>
              <a:rPr sz="1900" b="0">
                <a:solidFill>
                  <a:srgbClr val="0283BA"/>
                </a:solidFill>
                <a:latin typeface="Courier New"/>
              </a:rPr>
              <a:t>temperature</a:t>
            </a:r>
            <a:r>
              <a:rPr sz="1900" b="0">
                <a:solidFill>
                  <a:srgbClr val="4A5266"/>
                </a:solidFill>
                <a:latin typeface="Arial"/>
              </a:rPr>
              <a:t> ya no existe en Sonnet 5.5: el control es </a:t>
            </a:r>
            <a:r>
              <a:rPr sz="1900" b="0">
                <a:solidFill>
                  <a:srgbClr val="0283BA"/>
                </a:solidFill>
                <a:latin typeface="Courier New"/>
              </a:rPr>
              <a:t>effort</a:t>
            </a:r>
            <a:r>
              <a:rPr sz="1900" b="0">
                <a:solidFill>
                  <a:srgbClr val="4A5266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9226296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283BA"/>
                </a:solidFill>
                <a:latin typeface="Courier New"/>
              </a:rPr>
              <a:t>paso-03-primer-llm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9226296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488"/>
                </a:solidFill>
                <a:latin typeface="Courier New"/>
              </a:rPr>
              <a:t>AI Engineering Skills Map · Caso práctico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87800" y="922629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>
                <a:solidFill>
                  <a:srgbClr val="6B7488"/>
                </a:solidFill>
                <a:latin typeface="Courier New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5097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88136"/>
            <a:ext cx="457200" cy="18288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5097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PASO 04 · DESARROLLO GUIADO POR EVALS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17904"/>
            <a:ext cx="1600200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0" spc="-51">
                <a:solidFill>
                  <a:srgbClr val="1A2850"/>
                </a:solidFill>
                <a:latin typeface="Arial"/>
              </a:rPr>
              <a:t>Sin evals, cada cambio es una opinión</a:t>
            </a:r>
          </a:p>
        </p:txBody>
      </p:sp>
      <p:pic>
        <p:nvPicPr>
          <p:cNvPr id="6" name="Picture 5" descr="evals-ev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233998"/>
            <a:ext cx="10241280" cy="51448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200" y="283464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spc="-60">
                <a:solidFill>
                  <a:srgbClr val="0283BA"/>
                </a:solidFill>
                <a:latin typeface="Arial"/>
              </a:rPr>
              <a:t>3 → 24 →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0" y="388620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de 30 casos pasan todos los chequeos (pasos 03 → 05 → 06)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0" y="489204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spc="-60">
                <a:solidFill>
                  <a:srgbClr val="1A2850"/>
                </a:solidFill>
                <a:latin typeface="Arial"/>
              </a:rPr>
              <a:t>37 % → 100 %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0" y="594360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de respuestas sin precios inventados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0" y="6949440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2850"/>
                </a:solidFill>
                <a:latin typeface="Arial"/>
              </a:rPr>
              <a:t>La eval también tuvo bugs: </a:t>
            </a:r>
            <a:r>
              <a:rPr sz="1800" b="0">
                <a:solidFill>
                  <a:srgbClr val="4A5266"/>
                </a:solidFill>
                <a:latin typeface="Arial"/>
              </a:rPr>
              <a:t>el primer juez premió un precio inventado y el primer dataset castigaba hacer preguntas. Lo vimos leyendo los fallos uno por uno.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9226296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283BA"/>
                </a:solidFill>
                <a:latin typeface="Courier New"/>
              </a:rPr>
              <a:t>paso-04-evals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9226296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488"/>
                </a:solidFill>
                <a:latin typeface="Courier New"/>
              </a:rPr>
              <a:t>AI Engineering Skills Map · Caso práctico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87800" y="922629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>
                <a:solidFill>
                  <a:srgbClr val="6B7488"/>
                </a:solidFill>
                <a:latin typeface="Courier New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5097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88136"/>
            <a:ext cx="457200" cy="18288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5097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PASO 05 · FUNDAMENTAR CON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17904"/>
            <a:ext cx="1600200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0" spc="-51">
                <a:solidFill>
                  <a:srgbClr val="1A2850"/>
                </a:solidFill>
                <a:latin typeface="Arial"/>
              </a:rPr>
              <a:t>No cambiamos el modelo: cambiamos lo que sabe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926080"/>
            <a:ext cx="507492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0472" y="3273552"/>
            <a:ext cx="43799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283BA"/>
                </a:solidFill>
                <a:latin typeface="Courier New"/>
              </a:rPr>
              <a:t>SERVICIO CORRECTO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3685032"/>
            <a:ext cx="43799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1A2850"/>
                </a:solidFill>
                <a:latin typeface="Arial"/>
              </a:rPr>
              <a:t>30 % → 100 %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4370832"/>
            <a:ext cx="437997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recomienda un servicio real del catálogo, con enlace a la ficha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926080"/>
            <a:ext cx="507492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1152" y="3273552"/>
            <a:ext cx="43799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283BA"/>
                </a:solidFill>
                <a:latin typeface="Courier New"/>
              </a:rPr>
              <a:t>BÚSQUEDA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3685032"/>
            <a:ext cx="43799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2850"/>
                </a:solidFill>
                <a:latin typeface="Arial"/>
              </a:rPr>
              <a:t>FTS 6/8 · híbrido 8/8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4370832"/>
            <a:ext cx="437997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con paráfrasis sin palabras del catálogo ("botamos comida todos los días")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24360" y="2926080"/>
            <a:ext cx="512064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71832" y="3273552"/>
            <a:ext cx="44256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283BA"/>
                </a:solidFill>
                <a:latin typeface="Courier New"/>
              </a:rPr>
              <a:t>TÉCNICA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71832" y="3685032"/>
            <a:ext cx="4425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2850"/>
                </a:solidFill>
                <a:latin typeface="Arial"/>
              </a:rPr>
              <a:t>Small-to-big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71832" y="4370832"/>
            <a:ext cx="442569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busca en fragmentos, entrega al modelo la ficha completa: nunca un precio suelto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6949440"/>
            <a:ext cx="1600200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63093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A2850"/>
                </a:solidFill>
                <a:latin typeface="Arial"/>
              </a:rPr>
              <a:t>En el prompt (con caché)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632764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4A5266"/>
                </a:solidFill>
                <a:latin typeface="Arial"/>
              </a:rPr>
              <a:t>reglas · 3 políticas · índice de nombres de servicios, sin precios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863840"/>
            <a:ext cx="1600200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72237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A2850"/>
                </a:solidFill>
                <a:latin typeface="Arial"/>
              </a:rPr>
              <a:t>Por recuperación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724204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4A5266"/>
                </a:solidFill>
                <a:latin typeface="Arial"/>
              </a:rPr>
              <a:t>fichas completas: precios, entregables, duración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778240"/>
            <a:ext cx="1600200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1381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A2850"/>
                </a:solidFill>
                <a:latin typeface="Arial"/>
              </a:rPr>
              <a:t>Ni grafo ni base vectorial aparte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815644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4A5266"/>
                </a:solidFill>
                <a:latin typeface="Arial"/>
              </a:rPr>
              <a:t>13 documentos sin relaciones: Postgres + pgvector basta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9226296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283BA"/>
                </a:solidFill>
                <a:latin typeface="Courier New"/>
              </a:rPr>
              <a:t>paso-05-rag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9226296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488"/>
                </a:solidFill>
                <a:latin typeface="Courier New"/>
              </a:rPr>
              <a:t>AI Engineering Skills Map · Caso práctico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87800" y="922629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>
                <a:solidFill>
                  <a:srgbClr val="6B7488"/>
                </a:solidFill>
                <a:latin typeface="Courier New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5097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88136"/>
            <a:ext cx="457200" cy="18288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5097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PASO 06 · SISTEMAS AGÉNTICOS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17904"/>
            <a:ext cx="1600200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0" spc="-51">
                <a:solidFill>
                  <a:srgbClr val="1A2850"/>
                </a:solidFill>
                <a:latin typeface="Arial"/>
              </a:rPr>
              <a:t>El LLM no calcula: decide quién calcula</a:t>
            </a:r>
          </a:p>
        </p:txBody>
      </p:sp>
      <p:pic>
        <p:nvPicPr>
          <p:cNvPr id="6" name="Picture 5" descr="hotel-simu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757226"/>
            <a:ext cx="11338560" cy="49097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0" y="2834640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spc="-60">
                <a:solidFill>
                  <a:srgbClr val="1A2850"/>
                </a:solidFill>
                <a:latin typeface="Arial"/>
              </a:rPr>
              <a:t>30,2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93040" y="388620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espera p90 hoy (1 de cada 10 huéspedes espera más)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93040" y="4892040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spc="-60">
                <a:solidFill>
                  <a:srgbClr val="0283BA"/>
                </a:solidFill>
                <a:latin typeface="Arial"/>
              </a:rPr>
              <a:t>0,8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0" y="594360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espera media con check-in digital previo (con una 3.ª recepcionista: 1,8 min)</a:t>
            </a:r>
          </a:p>
        </p:txBody>
      </p:sp>
      <p:pic>
        <p:nvPicPr>
          <p:cNvPr id="11" name="Picture 10" descr="llm-no-calcul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0" y="6903720"/>
            <a:ext cx="3276685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93040" y="8778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488"/>
                </a:solidFill>
                <a:latin typeface="Courier New"/>
              </a:rPr>
              <a:t>Ilustración generada con IA (Gemini)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7863840"/>
            <a:ext cx="11338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0283BA"/>
                </a:solidFill>
                <a:latin typeface="Courier New"/>
              </a:rPr>
              <a:t>simulate_queue</a:t>
            </a:r>
            <a:r>
              <a:rPr sz="1800" b="0">
                <a:solidFill>
                  <a:srgbClr val="4A5266"/>
                </a:solidFill>
                <a:latin typeface="Arial"/>
              </a:rPr>
              <a:t>: Erlang C + simulación de eventos discretos con semilla fija, 17 tests. El texto del agente usó exactamente sus cifras en 4 de 4 casos de la eval.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9226296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283BA"/>
                </a:solidFill>
                <a:latin typeface="Courier New"/>
              </a:rPr>
              <a:t>paso-06-agente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9226296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488"/>
                </a:solidFill>
                <a:latin typeface="Courier New"/>
              </a:rPr>
              <a:t>AI Engineering Skills Map · Caso práctico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87800" y="922629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>
                <a:solidFill>
                  <a:srgbClr val="6B7488"/>
                </a:solidFill>
                <a:latin typeface="Courier New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5097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88136"/>
            <a:ext cx="457200" cy="18288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5097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PASO 06 · AGENTE Y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17904"/>
            <a:ext cx="1600200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0" spc="-51">
                <a:solidFill>
                  <a:srgbClr val="1A2850"/>
                </a:solidFill>
                <a:latin typeface="Arial"/>
              </a:rPr>
              <a:t>Actuar, pero con permiso</a:t>
            </a:r>
          </a:p>
        </p:txBody>
      </p:sp>
      <p:pic>
        <p:nvPicPr>
          <p:cNvPr id="6" name="Picture 5" descr="pre-propuesta-rec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663082"/>
            <a:ext cx="8778240" cy="42867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43000" y="2743200"/>
            <a:ext cx="8778240" cy="6126480"/>
          </a:xfrm>
          <a:prstGeom prst="rect">
            <a:avLst/>
          </a:prstGeom>
          <a:noFill/>
          <a:ln w="9525"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60" y="2788920"/>
            <a:ext cx="73152" cy="1234440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27889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2850"/>
                </a:solidFill>
                <a:latin typeface="Arial"/>
              </a:rPr>
              <a:t>Aprobación humana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32461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4A5266"/>
                </a:solidFill>
                <a:latin typeface="Arial"/>
              </a:rPr>
              <a:t>Guardar la pre-propuesta exige el botón "Sí, guardar", y la aprobación va firmada.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24160" y="4325112"/>
            <a:ext cx="73152" cy="1234440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44200" y="432511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2850"/>
                </a:solidFill>
                <a:latin typeface="Arial"/>
              </a:rPr>
              <a:t>El precio lo pone el código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4782312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4A5266"/>
                </a:solidFill>
                <a:latin typeface="Arial"/>
              </a:rPr>
              <a:t>El rango de inversión sale del catálogo, no del modelo.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60" y="5861304"/>
            <a:ext cx="73152" cy="1234440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44200" y="5861304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2850"/>
                </a:solidFill>
                <a:latin typeface="Arial"/>
              </a:rPr>
              <a:t>Protección de la URL del QR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6318504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4A5266"/>
                </a:solidFill>
                <a:latin typeface="Arial"/>
              </a:rPr>
              <a:t>Límite de mensajes por IP y sesión, tope diario, límite de tamaño y fallo cerrado.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4160" y="7397496"/>
            <a:ext cx="73152" cy="1234440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7397496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2850"/>
                </a:solidFill>
                <a:latin typeface="Arial"/>
              </a:rPr>
              <a:t>Plan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7854696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4A5266"/>
                </a:solidFill>
                <a:latin typeface="Arial"/>
              </a:rPr>
              <a:t>AI_MODE=mock: la misma demo sin red ni claves.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9226296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283BA"/>
                </a:solidFill>
                <a:latin typeface="Courier New"/>
              </a:rPr>
              <a:t>paso-06-agente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9226296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488"/>
                </a:solidFill>
                <a:latin typeface="Courier New"/>
              </a:rPr>
              <a:t>AI Engineering Skills Map · Caso práctico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87800" y="922629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>
                <a:solidFill>
                  <a:srgbClr val="6B7488"/>
                </a:solidFill>
                <a:latin typeface="Courier New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5097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88136"/>
            <a:ext cx="457200" cy="18288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5097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PASO 07 · FUNDAMENTOS DE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17904"/>
            <a:ext cx="1600200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0" spc="-51">
                <a:solidFill>
                  <a:srgbClr val="1A2850"/>
                </a:solidFill>
                <a:latin typeface="Arial"/>
              </a:rPr>
              <a:t>¿Siempre un LLM? Mismo test, tres modelos</a:t>
            </a:r>
          </a:p>
        </p:txBody>
      </p:sp>
      <p:pic>
        <p:nvPicPr>
          <p:cNvPr id="6" name="Picture 5" descr="ml-vs-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233" y="2697480"/>
            <a:ext cx="10339533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6400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283BA"/>
                </a:solidFill>
                <a:latin typeface="Courier New"/>
              </a:rPr>
              <a:t>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00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283BA"/>
                </a:solidFill>
                <a:latin typeface="Courier New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283BA"/>
                </a:solidFill>
                <a:latin typeface="Courier New"/>
              </a:rPr>
              <a:t>Costo / 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0" y="6400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283BA"/>
                </a:solidFill>
                <a:latin typeface="Courier New"/>
              </a:rPr>
              <a:t>Latencia p50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7315200"/>
            <a:ext cx="1600200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690372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A2850"/>
                </a:solidFill>
                <a:latin typeface="Arial"/>
              </a:rPr>
              <a:t>TF-IDF + regresión logística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90372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A2850"/>
                </a:solidFill>
                <a:latin typeface="Arial"/>
              </a:rPr>
              <a:t>91,7 %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90372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A2850"/>
                </a:solidFill>
                <a:latin typeface="Arial"/>
              </a:rPr>
              <a:t>≈ US$ 0 (local)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0" y="690372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A2850"/>
                </a:solidFill>
                <a:latin typeface="Arial"/>
              </a:rPr>
              <a:t>0,6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7818120"/>
            <a:ext cx="1600200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740664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A2850"/>
                </a:solidFill>
                <a:latin typeface="Arial"/>
              </a:rPr>
              <a:t>Haiku 4.5 zero-shot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740664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A2850"/>
                </a:solidFill>
                <a:latin typeface="Arial"/>
              </a:rPr>
              <a:t>86,1 %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740664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A2850"/>
                </a:solidFill>
                <a:latin typeface="Arial"/>
              </a:rPr>
              <a:t>US$ 0,30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0" y="740664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A2850"/>
                </a:solidFill>
                <a:latin typeface="Arial"/>
              </a:rPr>
              <a:t>613,3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321040"/>
            <a:ext cx="1600200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79095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A2850"/>
                </a:solidFill>
                <a:latin typeface="Arial"/>
              </a:rPr>
              <a:t>Haiku 4.5 few-shot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79095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A2850"/>
                </a:solidFill>
                <a:latin typeface="Arial"/>
              </a:rPr>
              <a:t>97,2 %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79095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A2850"/>
                </a:solidFill>
                <a:latin typeface="Arial"/>
              </a:rPr>
              <a:t>US$ 1,02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0" y="79095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A2850"/>
                </a:solidFill>
                <a:latin typeface="Arial"/>
              </a:rPr>
              <a:t>527,7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8686800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4A5266"/>
                </a:solidFill>
                <a:latin typeface="Arial"/>
              </a:rPr>
              <a:t>36 casos de prueba sintéticos: 1 caso = 2,8 puntos. Decisión: el agente clasifica en la conversación; el modelo clásico, para triage masivo y drift.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9226296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283BA"/>
                </a:solidFill>
                <a:latin typeface="Courier New"/>
              </a:rPr>
              <a:t>paso-07-ml-clasico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9226296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488"/>
                </a:solidFill>
                <a:latin typeface="Courier New"/>
              </a:rPr>
              <a:t>AI Engineering Skills Map · Caso práctico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87800" y="922629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>
                <a:solidFill>
                  <a:srgbClr val="6B7488"/>
                </a:solidFill>
                <a:latin typeface="Courier New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5097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88136"/>
            <a:ext cx="457200" cy="18288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5097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PASOS 01 Y 08 · AGENTES DE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17904"/>
            <a:ext cx="1600200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0" spc="-51">
                <a:solidFill>
                  <a:srgbClr val="1A2850"/>
                </a:solidFill>
                <a:latin typeface="Arial"/>
              </a:rPr>
              <a:t>Todo esto lo construyó un agente de código</a:t>
            </a:r>
          </a:p>
        </p:txBody>
      </p:sp>
      <p:pic>
        <p:nvPicPr>
          <p:cNvPr id="6" name="Picture 5" descr="harness-agen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260" y="2788920"/>
            <a:ext cx="5734199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6035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488"/>
                </a:solidFill>
                <a:latin typeface="Courier New"/>
              </a:rPr>
              <a:t>Ilustración generada con IA (Gemini)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A2850"/>
                </a:solidFill>
                <a:latin typeface="Arial"/>
              </a:rPr>
              <a:t>CLAUDE.md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2852928"/>
            <a:ext cx="6537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4A5266"/>
                </a:solidFill>
                <a:latin typeface="Arial"/>
              </a:rPr>
              <a:t>la inducción del agente: arquitectura, comandos, "nunca inventes métricas"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3593592"/>
            <a:ext cx="973836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3703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A2850"/>
                </a:solidFill>
                <a:latin typeface="Arial"/>
              </a:rPr>
              <a:t>Hooks y permisos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3721607"/>
            <a:ext cx="6537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4A5266"/>
                </a:solidFill>
                <a:latin typeface="Arial"/>
              </a:rPr>
              <a:t>bloquea escribir claves; no puede leer .env ni forzar un push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4462272"/>
            <a:ext cx="973836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5720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A2850"/>
                </a:solidFill>
                <a:latin typeface="Arial"/>
              </a:rPr>
              <a:t>Subagente revisor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4590288"/>
            <a:ext cx="6537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4A5266"/>
                </a:solidFill>
                <a:latin typeface="Arial"/>
              </a:rPr>
              <a:t>contexto limpio, solo lectura: "NOT READY", 3 fallas graves en 7 minutos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5330952"/>
            <a:ext cx="973836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544067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A2850"/>
                </a:solidFill>
                <a:latin typeface="Arial"/>
              </a:rPr>
              <a:t>Bitácora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5458967"/>
            <a:ext cx="6537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4A5266"/>
                </a:solidFill>
                <a:latin typeface="Arial"/>
              </a:rPr>
              <a:t>el prompt exacto de cada paso y cada error, sin editar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6199631"/>
            <a:ext cx="973836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6583680"/>
            <a:ext cx="16002000" cy="2240280"/>
          </a:xfrm>
          <a:prstGeom prst="rect">
            <a:avLst/>
          </a:prstGeom>
          <a:solidFill>
            <a:srgbClr val="1A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6858000"/>
            <a:ext cx="1527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1A2E9"/>
                </a:solidFill>
                <a:latin typeface="Courier New"/>
              </a:rPr>
              <a:t>DE LA BITÁCORA DEL PASO 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7315200"/>
            <a:ext cx="15270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B8E4F9"/>
                </a:solidFill>
                <a:latin typeface="Arial"/>
              </a:rPr>
              <a:t>El modelo escribió: </a:t>
            </a:r>
            <a:r>
              <a:rPr sz="2000" b="0">
                <a:solidFill>
                  <a:srgbClr val="FFFFFF"/>
                </a:solidFill>
                <a:latin typeface="Arial"/>
              </a:rPr>
              <a:t>"te di cifras de simulación sin haber consultado las herramientas. No debí hacerlo". </a:t>
            </a:r>
            <a:r>
              <a:rPr sz="2000" b="0">
                <a:solidFill>
                  <a:srgbClr val="B8E4F9"/>
                </a:solidFill>
                <a:latin typeface="Arial"/>
              </a:rPr>
              <a:t>Sí las había consultado: el bug era nuestro (el historial perdía las llamadas). El modelo "confesando" un error que no cometió fue la pista.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9226296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283BA"/>
                </a:solidFill>
                <a:latin typeface="Courier New"/>
              </a:rPr>
              <a:t>paso-01-entorno-agente  ·  paso-08-producto-completo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9226296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488"/>
                </a:solidFill>
                <a:latin typeface="Courier New"/>
              </a:rPr>
              <a:t>AI Engineering Skills Map · Caso práctico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87800" y="922629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>
                <a:solidFill>
                  <a:srgbClr val="6B7488"/>
                </a:solidFill>
                <a:latin typeface="Courier New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5097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88136"/>
            <a:ext cx="457200" cy="18288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5097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PASO 09 · OPERACIÓN EN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17904"/>
            <a:ext cx="1600200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0" spc="-51">
                <a:solidFill>
                  <a:srgbClr val="1A2850"/>
                </a:solidFill>
                <a:latin typeface="Arial"/>
              </a:rPr>
              <a:t>Lo que no se mide en producción, no existe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spc="-60">
                <a:solidFill>
                  <a:srgbClr val="0283BA"/>
                </a:solidFill>
                <a:latin typeface="Arial"/>
              </a:rPr>
              <a:t>US$ 0,016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77639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costo promedio por conversación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spc="-60">
                <a:solidFill>
                  <a:srgbClr val="1A2850"/>
                </a:solidFill>
                <a:latin typeface="Arial"/>
              </a:rPr>
              <a:t>6,2 / 13,2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77639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latencia por respuesta, p50 / p95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0" y="292608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spc="-60">
                <a:solidFill>
                  <a:srgbClr val="0283BA"/>
                </a:solidFill>
                <a:latin typeface="Arial"/>
              </a:rPr>
              <a:t>TVD 0,30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0" y="3977639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alerta de drift (umbral 0,2): avalancha de solicitudes de propiedad intelectual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074920"/>
            <a:ext cx="1600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B7488"/>
                </a:solidFill>
                <a:latin typeface="Arial"/>
              </a:rPr>
              <a:t>Telemetría real de 10 conversaciones (15 respuestas) hasta el 2026-09-29: muestra pequeña. El drift usa tráfico simulado y marcado como tal.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035040"/>
            <a:ext cx="7772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6199631"/>
            <a:ext cx="7132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A2850"/>
                </a:solidFill>
                <a:latin typeface="Arial"/>
              </a:rPr>
              <a:t>Telemetría por turno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6656831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4A5266"/>
                </a:solidFill>
                <a:latin typeface="Arial"/>
              </a:rPr>
              <a:t>tokens, costo, latencia, herramientas, errores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6035040"/>
            <a:ext cx="7772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6199631"/>
            <a:ext cx="7132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A2850"/>
                </a:solidFill>
                <a:latin typeface="Arial"/>
              </a:rPr>
              <a:t>Evals de regresión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656831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4A5266"/>
                </a:solidFill>
                <a:latin typeface="Arial"/>
              </a:rPr>
              <a:t>un cambio de prompt sin eval en vivo no pasa el CI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7452360"/>
            <a:ext cx="7772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7616952"/>
            <a:ext cx="7132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A2850"/>
                </a:solidFill>
                <a:latin typeface="Arial"/>
              </a:rPr>
              <a:t>Runbook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8074152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4A5266"/>
                </a:solidFill>
                <a:latin typeface="Arial"/>
              </a:rPr>
              <a:t>API caída → modo mock; costo → tope diario; abuso → límites; rollback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7452360"/>
            <a:ext cx="7772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7616952"/>
            <a:ext cx="7132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A2850"/>
                </a:solidFill>
                <a:latin typeface="Arial"/>
              </a:rPr>
              <a:t>Riesgo con fecha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8074152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4A5266"/>
                </a:solidFill>
                <a:latin typeface="Arial"/>
              </a:rPr>
              <a:t>Haiku 4.5 se retira no antes del 15 oct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9226296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283BA"/>
                </a:solidFill>
                <a:latin typeface="Courier New"/>
              </a:rPr>
              <a:t>paso-09-produccion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9226296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488"/>
                </a:solidFill>
                <a:latin typeface="Courier New"/>
              </a:rPr>
              <a:t>AI Engineering Skills Map · Caso práctico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87800" y="922629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>
                <a:solidFill>
                  <a:srgbClr val="6B7488"/>
                </a:solidFill>
                <a:latin typeface="Courier New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5097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88136"/>
            <a:ext cx="457200" cy="18288"/>
          </a:xfrm>
          <a:prstGeom prst="rect">
            <a:avLst/>
          </a:prstGeom>
          <a:solidFill>
            <a:srgbClr val="01A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5097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283BA"/>
                </a:solidFill>
                <a:latin typeface="Courier New"/>
              </a:rPr>
              <a:t>LECCIONES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17904"/>
            <a:ext cx="1600200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0" spc="-51">
                <a:solidFill>
                  <a:srgbClr val="1A2850"/>
                </a:solidFill>
                <a:latin typeface="Arial"/>
              </a:rPr>
              <a:t>Una lección por pilar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926080"/>
            <a:ext cx="77724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0472" y="3273552"/>
            <a:ext cx="7077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283BA"/>
                </a:solidFill>
                <a:latin typeface="Courier New"/>
              </a:rPr>
              <a:t>01 · APPS DE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3685032"/>
            <a:ext cx="70774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2850"/>
                </a:solidFill>
                <a:latin typeface="Arial"/>
              </a:rPr>
              <a:t>Los datos pesan más que el 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4370832"/>
            <a:ext cx="707745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El mismo modelo pasó de 10 % a 80 % de casos correctos con RAG. Y las cifras las calcula una herramienta.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81160" y="2926080"/>
            <a:ext cx="7772400" cy="2834640"/>
          </a:xfrm>
          <a:prstGeom prst="rect">
            <a:avLst/>
          </a:prstGeom>
          <a:solidFill>
            <a:srgbClr val="1A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28632" y="3273552"/>
            <a:ext cx="7077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1A2E9"/>
                </a:solidFill>
                <a:latin typeface="Courier New"/>
              </a:rPr>
              <a:t>02 ·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8632" y="3685032"/>
            <a:ext cx="70774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Arial"/>
              </a:rPr>
              <a:t>Prueba como atacante, no como usuario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8632" y="4370832"/>
            <a:ext cx="707745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E6F6FD"/>
                </a:solidFill>
                <a:latin typeface="Arial"/>
              </a:rPr>
              <a:t>Los guardrails pasaban las pruebas de la UI; el revisor fabricó el historial y encontró tres formas de disparar la factura.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5989320"/>
            <a:ext cx="77724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90472" y="6336792"/>
            <a:ext cx="7077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283BA"/>
                </a:solidFill>
                <a:latin typeface="Courier New"/>
              </a:rPr>
              <a:t>03 · AGENTES DE CÓDIGO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6748272"/>
            <a:ext cx="70774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2850"/>
                </a:solidFill>
                <a:latin typeface="Arial"/>
              </a:rPr>
              <a:t>Una regla pide; un hook garantiza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7434072"/>
            <a:ext cx="707745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Permisos, hooks, CI y un revisor con contexto limpio. El humano decidió qué construir y cuándo recortar.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5989320"/>
            <a:ext cx="77724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632" y="6336792"/>
            <a:ext cx="7077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283BA"/>
                </a:solidFill>
                <a:latin typeface="Courier New"/>
              </a:rPr>
              <a:t>04 · DAR FORMA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8632" y="6748272"/>
            <a:ext cx="70774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2850"/>
                </a:solidFill>
                <a:latin typeface="Arial"/>
              </a:rPr>
              <a:t>Mide antes de creer, incluso tu 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8632" y="7434072"/>
            <a:ext cx="707745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4A5266"/>
                </a:solidFill>
                <a:latin typeface="Arial"/>
              </a:rPr>
              <a:t>El primer 53 % era un defecto del dataset. Leer los fallos a mano evitó una conclusión falsa.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9226296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488"/>
                </a:solidFill>
                <a:latin typeface="Courier New"/>
              </a:rPr>
              <a:t>AI Engineering Skills Map · Caso práctico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87800" y="922629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>
                <a:solidFill>
                  <a:srgbClr val="6B7488"/>
                </a:solidFill>
                <a:latin typeface="Courier New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95097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spc="216">
                <a:solidFill>
                  <a:srgbClr val="01A2E9"/>
                </a:solidFill>
                <a:latin typeface="Courier New"/>
              </a:rPr>
              <a:t>CASO PRÁCTICO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517904"/>
            <a:ext cx="1600200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100" b="0" spc="-51">
                <a:solidFill>
                  <a:srgbClr val="FFFFFF"/>
                </a:solidFill>
                <a:latin typeface="Arial"/>
              </a:rPr>
              <a:t>Pruébalo y revísalo tú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2697480"/>
            <a:ext cx="429768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880360"/>
            <a:ext cx="393192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717804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0">
                <a:solidFill>
                  <a:srgbClr val="FFFFFF"/>
                </a:solidFill>
                <a:latin typeface="Arial"/>
              </a:rPr>
              <a:t>El código, paso a 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77240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B8E4F9"/>
                </a:solidFill>
                <a:latin typeface="Courier New"/>
              </a:rPr>
              <a:t>github.com/FutureTales/ai-engineering-demo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9840" y="2697480"/>
            <a:ext cx="429768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880360"/>
            <a:ext cx="3931920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64040" y="717804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0">
                <a:solidFill>
                  <a:srgbClr val="FFFFFF"/>
                </a:solidFill>
                <a:latin typeface="Arial"/>
              </a:rPr>
              <a:t>La app en vivo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777240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B8E4F9"/>
                </a:solidFill>
                <a:latin typeface="Courier New"/>
              </a:rPr>
              <a:t>innova-copilot.vercel.app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8641080"/>
            <a:ext cx="1600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E4F9"/>
                </a:solidFill>
                <a:latin typeface="Courier New"/>
              </a:rPr>
              <a:t>Demo educativa · el centro, sus servicios y las empresas son ficticios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9226296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E4F9"/>
                </a:solidFill>
                <a:latin typeface="Courier New"/>
              </a:rPr>
              <a:t>AI Engineering Skills Map · Caso práctico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87800" y="922629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>
                <a:solidFill>
                  <a:srgbClr val="B8E4F9"/>
                </a:solidFill>
                <a:latin typeface="Courier New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2026-09-29T13:24:33Z</dcterms:created>
  <dcterms:modified xsi:type="dcterms:W3CDTF">2026-09-29T13:24:33Z</dcterms:modified>
</cp:coreProperties>
</file>