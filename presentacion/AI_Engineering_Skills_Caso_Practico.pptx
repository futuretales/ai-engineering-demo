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72" r:id="rId18"/>
  </p:sldIdLst>
  <p:notesMasterIdLst>
    <p:notesMasterId r:id="rId19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mapa de habilidades de AI Engineering publicado por Andrew Ng y DeepLearning.AI en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se construyó con datos: más de 10.000 ofertas de empleo, entrevistas y encuestas. Ng lo describe como un clustering sobre un dataset masivo.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Analogía con la nube: todos los desarrolladores trabajan con la nube, pocos tienen el título de Cloud Engineer. Igual con AI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pilares del mapa. Debajo de todos: una mentalidad de aprendizaje continuo.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 clave: las aplicaciones de IA tienen salidas impredecibles. El trabajo consiste en medir, dirigir y gobernar ese comportamiento.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competencias. Construir IA es más iterativo que el software tradicional: construir, examinar y decidir el siguiente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Según Ng, el rasgo que más distingue a quien construye bien sistemas de IA es conducir un ciclo disciplinado de evals y análisis de errores. Tres tipos de eval: deterministas, LLM-as-a-judge y humano en el ciclo.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Aunque un agente escriba todo el código, entender los fundamentos permite dirigirlo hacia las compensaciones correctas.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Quien hace vibe coding sin fundamentos deja que el agente tome malas decisiones en latencia, disponibilidad, costo, etc., sin saber siquiera que existían.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habilidad que evoluciona más rápido de las cuatro. Requiere experimentar continuamente con herramientas y flujos.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parecido al de antes, pero el foco pasa del código a decidir qué construir, diseñar la arquitectura, escribir la spec y verificar. Es iterativo: si la verificación falla, se vuelve atrás.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 advierte que las redes sociales simplifican de más: las tareas autónomas de horas se sobrevaloran. El uso efectivo es iterativo y con juicio humano.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una spec clara, los agentes entregan cada vez mejor. El trabajo del ingeniero se desplaza hacia decidir qué debe contener la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roles de producto, diseño y desarrollo se difuminan. Un ingeniero con estas habilidades avanza sin esperar a que un PM decida cada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Definiciones de referencia para los conceptos que aparecen en 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Debajo de las cuatro habilidades está una mentalidad de aprendizaje continuo: la IA cambia rápido y las buenas prácticas también.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Serie de cinco cartas de Andrew Ng en The Batch, agosto y septiembre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6000"/>
          </a:blip>
          <a:stretch>
            <a:fillRect/>
          </a:stretch>
        </p:blipFill>
        <p:spPr>
          <a:xfrm>
            <a:off x="10624989" y="1333500"/>
            <a:ext cx="8234511" cy="8191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952500"/>
            <a:ext cx="45262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448300" y="1090613"/>
            <a:ext cx="6096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6" name="Text 3"/>
          <p:cNvSpPr/>
          <p:nvPr/>
        </p:nvSpPr>
        <p:spPr>
          <a:xfrm>
            <a:off x="6248400" y="952500"/>
            <a:ext cx="73461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143000" y="3156347"/>
            <a:ext cx="12753975" cy="26027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9166"/>
              </a:lnSpc>
              <a:buNone/>
            </a:pPr>
            <a:r>
              <a:rPr lang="en-US" sz="9900" spc="-19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Habilidades esenciales en </a:t>
            </a:r>
            <a:pPr algn="l" indent="0" marL="0">
              <a:lnSpc>
                <a:spcPct val="89166"/>
              </a:lnSpc>
              <a:buNone/>
            </a:pPr>
            <a:r>
              <a:rPr lang="en-US" sz="9900" spc="-198" kern="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9900" dirty="0"/>
          </a:p>
        </p:txBody>
      </p:sp>
      <p:sp>
        <p:nvSpPr>
          <p:cNvPr id="8" name="Text 5"/>
          <p:cNvSpPr/>
          <p:nvPr/>
        </p:nvSpPr>
        <p:spPr>
          <a:xfrm>
            <a:off x="1143000" y="6101953"/>
            <a:ext cx="10791825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todo desarrollador necesita saber para construir con IA hoy.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143000" y="9039225"/>
            <a:ext cx="844912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Basado en el AI Engineering Skills Map — DeepLearning.AI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870561" y="90392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44851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 del mapa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1143000" y="3871913"/>
            <a:ext cx="9356735" cy="2266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261"/>
              </a:lnSpc>
              <a:buNone/>
            </a:pPr>
            <a:r>
              <a:rPr lang="en-US" sz="19500" spc="-585" kern="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10.000+</a:t>
            </a:r>
            <a:endParaRPr lang="en-US" sz="19500" dirty="0"/>
          </a:p>
        </p:txBody>
      </p:sp>
      <p:sp>
        <p:nvSpPr>
          <p:cNvPr id="5" name="Text 3"/>
          <p:cNvSpPr/>
          <p:nvPr/>
        </p:nvSpPr>
        <p:spPr>
          <a:xfrm>
            <a:off x="1143000" y="6329363"/>
            <a:ext cx="7456170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56"/>
              </a:lnSpc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ofertas de empleo analizadas para identificar las habilidades más demandadas.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601623" y="311467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0601623" y="507682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8" name="Text 6"/>
          <p:cNvSpPr/>
          <p:nvPr/>
        </p:nvSpPr>
        <p:spPr>
          <a:xfrm>
            <a:off x="10601623" y="3467100"/>
            <a:ext cx="71977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01623" y="3857625"/>
            <a:ext cx="6739679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Decenas de entrevistas con expertos, líderes de contratación y reclutadores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0601623" y="660082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1" name="Text 9"/>
          <p:cNvSpPr/>
          <p:nvPr/>
        </p:nvSpPr>
        <p:spPr>
          <a:xfrm>
            <a:off x="10601623" y="5429250"/>
            <a:ext cx="71977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601623" y="5819775"/>
            <a:ext cx="719771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Encuestas y síntesis de datos públicos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601623" y="8562975"/>
            <a:ext cx="6543377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1623" y="6953250"/>
            <a:ext cx="71977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Objetivo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601623" y="7343775"/>
            <a:ext cx="6739679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Ayudar a priorizar qué aprender y a quién contratar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217277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TERMINOLOGÍA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Habilidad, no solo un rol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1143000" y="4085332"/>
            <a:ext cx="7772400" cy="3516511"/>
          </a:xfrm>
          <a:prstGeom prst="roundRect">
            <a:avLst>
              <a:gd name="adj" fmla="val 4334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  <a:effectLst>
            <a:outerShdw sx="100000" sy="100000" kx="0" ky="0" algn="bl" rotWithShape="0" blurRad="76200" dist="19050" dir="5400000">
              <a:srgbClr val="1A285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685925" y="4628257"/>
            <a:ext cx="735520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85925" y="5152132"/>
            <a:ext cx="735520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685925" y="6152257"/>
            <a:ext cx="6887147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51"/>
              </a:lnSpc>
              <a:buNone/>
            </a:pPr>
            <a:r>
              <a:rPr lang="en-US" sz="25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cuyo trabajo es construir sistemas de IA. Un grupo acotado.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09057"/>
            <a:ext cx="7772400" cy="4869061"/>
          </a:xfrm>
          <a:prstGeom prst="roundRect">
            <a:avLst>
              <a:gd name="adj" fmla="val 3130"/>
            </a:avLst>
          </a:prstGeom>
          <a:solidFill>
            <a:srgbClr val="1A2850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3942457"/>
            <a:ext cx="73761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HABILIDAD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06000" y="4466332"/>
            <a:ext cx="737616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906000" y="5466457"/>
            <a:ext cx="6906768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51"/>
              </a:lnSpc>
              <a:buNone/>
            </a:pPr>
            <a:r>
              <a:rPr lang="en-US" sz="2550" dirty="0">
                <a:solidFill>
                  <a:srgbClr val="E6F6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capacidades que necesitará todo desarrollador.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6677918"/>
            <a:ext cx="1411932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106025" y="6763643"/>
            <a:ext cx="108808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432232" y="6677918"/>
            <a:ext cx="1006822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32257" y="6763643"/>
            <a:ext cx="6829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553355" y="6677918"/>
            <a:ext cx="1226195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753380" y="6763643"/>
            <a:ext cx="90234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3893850" y="6677918"/>
            <a:ext cx="2153245" cy="476250"/>
          </a:xfrm>
          <a:prstGeom prst="roundRect">
            <a:avLst>
              <a:gd name="adj" fmla="val 50000"/>
            </a:avLst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093875" y="6763643"/>
            <a:ext cx="182939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906000" y="7268468"/>
            <a:ext cx="625376" cy="476250"/>
          </a:xfrm>
          <a:prstGeom prst="ellipse">
            <a:avLst/>
          </a:prstGeom>
          <a:ln w="9525">
            <a:solidFill>
              <a:srgbClr val="33B6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06025" y="7354193"/>
            <a:ext cx="301526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253473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VISIÓN GENERAL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de habilidades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6817668" y="3428702"/>
            <a:ext cx="4652665" cy="1333500"/>
          </a:xfrm>
          <a:prstGeom prst="roundRect">
            <a:avLst>
              <a:gd name="adj" fmla="val 11429"/>
            </a:avLst>
          </a:prstGeom>
          <a:solidFill>
            <a:srgbClr val="1A2850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03468" y="3733502"/>
            <a:ext cx="342064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9134475" y="476220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7" name="Shape 5"/>
          <p:cNvSpPr/>
          <p:nvPr/>
        </p:nvSpPr>
        <p:spPr>
          <a:xfrm>
            <a:off x="3143250" y="5295602"/>
            <a:ext cx="1200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8" name="Shape 6"/>
          <p:cNvSpPr/>
          <p:nvPr/>
        </p:nvSpPr>
        <p:spPr>
          <a:xfrm>
            <a:off x="30194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5848052"/>
            <a:ext cx="3771900" cy="2410420"/>
          </a:xfrm>
          <a:prstGeom prst="roundRect">
            <a:avLst>
              <a:gd name="adj" fmla="val 6323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8248948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1" name="Shape 9"/>
          <p:cNvSpPr/>
          <p:nvPr/>
        </p:nvSpPr>
        <p:spPr>
          <a:xfrm>
            <a:off x="11430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2" name="Shape 10"/>
          <p:cNvSpPr/>
          <p:nvPr/>
        </p:nvSpPr>
        <p:spPr>
          <a:xfrm>
            <a:off x="1143000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3" name="Shape 11"/>
          <p:cNvSpPr/>
          <p:nvPr/>
        </p:nvSpPr>
        <p:spPr>
          <a:xfrm>
            <a:off x="4905375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4" name="Text 12"/>
          <p:cNvSpPr/>
          <p:nvPr/>
        </p:nvSpPr>
        <p:spPr>
          <a:xfrm>
            <a:off x="14573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57325" y="6657677"/>
            <a:ext cx="3237548" cy="1286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y desplegar aplicaciones de IA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70961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9700" y="5848052"/>
            <a:ext cx="3771900" cy="2410420"/>
          </a:xfrm>
          <a:prstGeom prst="roundRect">
            <a:avLst>
              <a:gd name="adj" fmla="val 6323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219700" y="8248948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97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20" name="Shape 18"/>
          <p:cNvSpPr/>
          <p:nvPr/>
        </p:nvSpPr>
        <p:spPr>
          <a:xfrm>
            <a:off x="5219700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1" name="Shape 19"/>
          <p:cNvSpPr/>
          <p:nvPr/>
        </p:nvSpPr>
        <p:spPr>
          <a:xfrm>
            <a:off x="8982075" y="5848052"/>
            <a:ext cx="9525" cy="241042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2" name="Text 20"/>
          <p:cNvSpPr/>
          <p:nvPr/>
        </p:nvSpPr>
        <p:spPr>
          <a:xfrm>
            <a:off x="55340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4025" y="6657677"/>
            <a:ext cx="3237548" cy="1286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ingeniería de software</a:t>
            </a:r>
            <a:endParaRPr lang="en-US" sz="2850" dirty="0"/>
          </a:p>
        </p:txBody>
      </p:sp>
      <p:sp>
        <p:nvSpPr>
          <p:cNvPr id="24" name="Shape 22"/>
          <p:cNvSpPr/>
          <p:nvPr/>
        </p:nvSpPr>
        <p:spPr>
          <a:xfrm>
            <a:off x="111728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25" name="Shape 23"/>
          <p:cNvSpPr/>
          <p:nvPr/>
        </p:nvSpPr>
        <p:spPr>
          <a:xfrm>
            <a:off x="9296400" y="5848052"/>
            <a:ext cx="3771900" cy="2381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9296400" y="8219777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7" name="Shape 25"/>
          <p:cNvSpPr/>
          <p:nvPr/>
        </p:nvSpPr>
        <p:spPr>
          <a:xfrm>
            <a:off x="92964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28" name="Shape 26"/>
          <p:cNvSpPr/>
          <p:nvPr/>
        </p:nvSpPr>
        <p:spPr>
          <a:xfrm>
            <a:off x="9296400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9" name="Shape 27"/>
          <p:cNvSpPr/>
          <p:nvPr/>
        </p:nvSpPr>
        <p:spPr>
          <a:xfrm>
            <a:off x="13058775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0" name="Text 28"/>
          <p:cNvSpPr/>
          <p:nvPr/>
        </p:nvSpPr>
        <p:spPr>
          <a:xfrm>
            <a:off x="96107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0725" y="6657677"/>
            <a:ext cx="3237548" cy="8703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agentes de código</a:t>
            </a:r>
            <a:endParaRPr lang="en-US" sz="2850" dirty="0"/>
          </a:p>
        </p:txBody>
      </p:sp>
      <p:sp>
        <p:nvSpPr>
          <p:cNvPr id="32" name="Shape 30"/>
          <p:cNvSpPr/>
          <p:nvPr/>
        </p:nvSpPr>
        <p:spPr>
          <a:xfrm>
            <a:off x="15249525" y="5314652"/>
            <a:ext cx="19050" cy="53340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33" name="Shape 31"/>
          <p:cNvSpPr/>
          <p:nvPr/>
        </p:nvSpPr>
        <p:spPr>
          <a:xfrm>
            <a:off x="13373100" y="5848052"/>
            <a:ext cx="3771900" cy="238125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13373100" y="8219777"/>
            <a:ext cx="37719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5" name="Shape 33"/>
          <p:cNvSpPr/>
          <p:nvPr/>
        </p:nvSpPr>
        <p:spPr>
          <a:xfrm>
            <a:off x="13373100" y="5848052"/>
            <a:ext cx="37719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36" name="Shape 34"/>
          <p:cNvSpPr/>
          <p:nvPr/>
        </p:nvSpPr>
        <p:spPr>
          <a:xfrm>
            <a:off x="13373100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7" name="Shape 35"/>
          <p:cNvSpPr/>
          <p:nvPr/>
        </p:nvSpPr>
        <p:spPr>
          <a:xfrm>
            <a:off x="17135475" y="5848052"/>
            <a:ext cx="9525" cy="238125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8" name="Text 36"/>
          <p:cNvSpPr/>
          <p:nvPr/>
        </p:nvSpPr>
        <p:spPr>
          <a:xfrm>
            <a:off x="13687425" y="6210002"/>
            <a:ext cx="345757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687425" y="6657677"/>
            <a:ext cx="3237548" cy="8703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1628"/>
              </a:lnSpc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 forma a lo que se construye</a:t>
            </a:r>
            <a:endParaRPr lang="en-US" sz="2850" dirty="0"/>
          </a:p>
        </p:txBody>
      </p:sp>
      <p:sp>
        <p:nvSpPr>
          <p:cNvPr id="40" name="Text 38"/>
          <p:cNvSpPr/>
          <p:nvPr/>
        </p:nvSpPr>
        <p:spPr>
          <a:xfrm>
            <a:off x="1143000" y="9229725"/>
            <a:ext cx="482816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común: aprendizaje continuo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01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2581424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4581674"/>
            <a:ext cx="13735050" cy="1958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y desplegar aplicaciones de IA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882854"/>
            <a:ext cx="12753975" cy="10513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 sistemas confiables a partir de componentes cuyas salidas no son predecibles.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25899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APLICACIONES DE IA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competencias de aplicaciones de IA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2952750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95425" y="3305175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LLM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495425" y="3981450"/>
            <a:ext cx="4584839" cy="1157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Tokens, ventana de contexto, parámetros de muestreo y uso de herramientas.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565850" y="2952750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18275" y="3305175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Fundamentar con datos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6918275" y="3981450"/>
            <a:ext cx="458483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RAG, grafos de conocimiento y capas semánticas para dar buen contexto.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1988701" y="2952750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1126" y="3305175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agénticos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2341126" y="3981450"/>
            <a:ext cx="4584839" cy="11578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Flujos, herramientas, memoria, multiagente y guardrails de seguridad.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143000" y="6034088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1A2850"/>
          </a:solidFill>
          <a:ln/>
        </p:spPr>
      </p:sp>
      <p:sp>
        <p:nvSpPr>
          <p:cNvPr id="16" name="Text 14"/>
          <p:cNvSpPr/>
          <p:nvPr/>
        </p:nvSpPr>
        <p:spPr>
          <a:xfrm>
            <a:off x="1485900" y="6376988"/>
            <a:ext cx="4917385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guiado por evals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485900" y="7053263"/>
            <a:ext cx="4604461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E6F6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con evaluaciones y análisis de errores para decidir qué probar.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6565850" y="6034088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8275" y="6386513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Operación en producción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6918275" y="7062788"/>
            <a:ext cx="458483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Observabilidad, detección de drift, costo y latencia a escala.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1988701" y="6034088"/>
            <a:ext cx="5156150" cy="2814638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41126" y="6386513"/>
            <a:ext cx="489643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ML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2341126" y="7062788"/>
            <a:ext cx="4584839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supervisado, sesgo/varianza e ingeniería de datos.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25899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APLICACIONES DE IA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evaluación y análisis de errores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3427214"/>
            <a:ext cx="3571875" cy="1704975"/>
          </a:xfrm>
          <a:prstGeom prst="roundRect">
            <a:avLst>
              <a:gd name="adj" fmla="val 8939"/>
            </a:avLst>
          </a:prstGeom>
          <a:solidFill>
            <a:srgbClr val="FFFFFF"/>
          </a:solidFill>
          <a:ln w="19050">
            <a:solidFill>
              <a:srgbClr val="01A2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6850" y="3789164"/>
            <a:ext cx="321659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6850" y="4217789"/>
            <a:ext cx="3216593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714875" y="4270177"/>
            <a:ext cx="57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0" name="Shape 8"/>
          <p:cNvSpPr/>
          <p:nvPr/>
        </p:nvSpPr>
        <p:spPr>
          <a:xfrm>
            <a:off x="5286375" y="3436739"/>
            <a:ext cx="3571875" cy="1685925"/>
          </a:xfrm>
          <a:prstGeom prst="roundRect">
            <a:avLst>
              <a:gd name="adj" fmla="val 9040"/>
            </a:avLst>
          </a:prstGeom>
          <a:solidFill>
            <a:srgbClr val="FFFFFF"/>
          </a:solidFill>
          <a:ln w="9525">
            <a:solidFill>
              <a:srgbClr val="C9D0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00700" y="3789164"/>
            <a:ext cx="323754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600700" y="4217789"/>
            <a:ext cx="323754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8858250" y="4270177"/>
            <a:ext cx="57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4" name="Shape 12"/>
          <p:cNvSpPr/>
          <p:nvPr/>
        </p:nvSpPr>
        <p:spPr>
          <a:xfrm>
            <a:off x="9429750" y="3436739"/>
            <a:ext cx="3571875" cy="1685925"/>
          </a:xfrm>
          <a:prstGeom prst="roundRect">
            <a:avLst>
              <a:gd name="adj" fmla="val 9040"/>
            </a:avLst>
          </a:prstGeom>
          <a:solidFill>
            <a:srgbClr val="FFFFFF"/>
          </a:solidFill>
          <a:ln w="9525">
            <a:solidFill>
              <a:srgbClr val="C9D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44075" y="3789164"/>
            <a:ext cx="323754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744075" y="4217789"/>
            <a:ext cx="3237548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Analizar errores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3001625" y="4270177"/>
            <a:ext cx="5715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73125" y="3160514"/>
            <a:ext cx="3571875" cy="2238375"/>
          </a:xfrm>
          <a:prstGeom prst="roundRect">
            <a:avLst>
              <a:gd name="adj" fmla="val 6809"/>
            </a:avLst>
          </a:prstGeom>
          <a:solidFill>
            <a:srgbClr val="FFFFFF"/>
          </a:solidFill>
          <a:ln w="9525">
            <a:solidFill>
              <a:srgbClr val="C9D0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887450" y="3512939"/>
            <a:ext cx="323754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887450" y="3941564"/>
            <a:ext cx="3031522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el siguiente paso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3063180" y="6275189"/>
            <a:ext cx="12161639" cy="19050"/>
          </a:xfrm>
          <a:prstGeom prst="rect">
            <a:avLst/>
          </a:prstGeom>
          <a:solidFill>
            <a:srgbClr val="7DCEF4"/>
          </a:solidFill>
          <a:ln/>
        </p:spPr>
      </p:sp>
      <p:sp>
        <p:nvSpPr>
          <p:cNvPr id="22" name="Shape 20"/>
          <p:cNvSpPr/>
          <p:nvPr/>
        </p:nvSpPr>
        <p:spPr>
          <a:xfrm>
            <a:off x="3063180" y="5932289"/>
            <a:ext cx="19050" cy="361950"/>
          </a:xfrm>
          <a:prstGeom prst="rect">
            <a:avLst/>
          </a:prstGeom>
          <a:solidFill>
            <a:srgbClr val="7DCEF4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05770" y="5932289"/>
            <a:ext cx="19050" cy="361950"/>
          </a:xfrm>
          <a:prstGeom prst="rect">
            <a:avLst/>
          </a:prstGeom>
          <a:solidFill>
            <a:srgbClr val="7DCEF4"/>
          </a:solidFill>
          <a:ln/>
        </p:spPr>
      </p:sp>
      <p:sp>
        <p:nvSpPr>
          <p:cNvPr id="24" name="Shape 22"/>
          <p:cNvSpPr/>
          <p:nvPr/>
        </p:nvSpPr>
        <p:spPr>
          <a:xfrm>
            <a:off x="1143000" y="6827639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7218164"/>
            <a:ext cx="553212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Determinista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143000" y="7780139"/>
            <a:ext cx="553212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en código para salidas verificables.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6629400" y="7218164"/>
            <a:ext cx="553212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LLM-as-a-judge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6629400" y="7780139"/>
            <a:ext cx="5180076" cy="784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modelo califica según criterios definidos.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2115800" y="7218164"/>
            <a:ext cx="5532120" cy="504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en el ciclo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2115800" y="7780139"/>
            <a:ext cx="5532120" cy="4113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210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experta donde el juicio es crítico.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02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2581424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4581674"/>
            <a:ext cx="13735050" cy="1958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 ingeniería de software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882854"/>
            <a:ext cx="12753975" cy="10513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cómo funciona el software para dirigir al agente con el lenguaje preciso de la ingeniería.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41643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FUNDAMENTOS DE SOFTWARE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competencias y sus compensaciones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3195638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" y="4252913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633788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3452813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Aplicaciones full-stack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143000" y="5310188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691063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4510088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de datos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143000" y="6367463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5748338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28800" y="5567363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sistemas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1143000" y="7424737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6805613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6624638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y fiabilidad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1143000" y="8482013"/>
            <a:ext cx="838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7862888"/>
            <a:ext cx="7620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7681912"/>
            <a:ext cx="846582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y operación en producción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10439400" y="3133725"/>
            <a:ext cx="6705600" cy="5419725"/>
          </a:xfrm>
          <a:prstGeom prst="roundRect">
            <a:avLst>
              <a:gd name="adj" fmla="val 2812"/>
            </a:avLst>
          </a:prstGeom>
          <a:solidFill>
            <a:srgbClr val="E6F6FD"/>
          </a:solidFill>
          <a:ln/>
        </p:spPr>
      </p:sp>
      <p:sp>
        <p:nvSpPr>
          <p:cNvPr id="23" name="Text 21"/>
          <p:cNvSpPr/>
          <p:nvPr/>
        </p:nvSpPr>
        <p:spPr>
          <a:xfrm>
            <a:off x="10934700" y="3629025"/>
            <a:ext cx="62865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46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COMPENSACIONES A DIRIGIR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0934700" y="4191000"/>
            <a:ext cx="1583829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191875" y="4295775"/>
            <a:ext cx="1145679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Latencia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12651879" y="4191000"/>
            <a:ext cx="2352824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09054" y="4295775"/>
            <a:ext cx="1914674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10934700" y="4924425"/>
            <a:ext cx="2120503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91875" y="5029200"/>
            <a:ext cx="1682353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Consistencia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13188553" y="4924425"/>
            <a:ext cx="1757065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445728" y="5029200"/>
            <a:ext cx="1318915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Fiabilidad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0934700" y="5657850"/>
            <a:ext cx="2419945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191875" y="5762625"/>
            <a:ext cx="1981795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Mantenibilidad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13487995" y="5657850"/>
            <a:ext cx="2001738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45170" y="5762625"/>
            <a:ext cx="1563588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Simplicidad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10934700" y="6391275"/>
            <a:ext cx="1248966" cy="60007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DCEF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91875" y="6496050"/>
            <a:ext cx="81081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</a:t>
            </a:r>
            <a:endParaRPr lang="en-US" sz="2250" dirty="0"/>
          </a:p>
        </p:txBody>
      </p:sp>
      <p:sp>
        <p:nvSpPr>
          <p:cNvPr id="38" name="Text 36"/>
          <p:cNvSpPr/>
          <p:nvPr/>
        </p:nvSpPr>
        <p:spPr>
          <a:xfrm>
            <a:off x="10934700" y="7258050"/>
            <a:ext cx="588645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sabe que existen, el agente las decide por usted.</a:t>
            </a:r>
            <a:endParaRPr lang="en-US" sz="2250" dirty="0"/>
          </a:p>
        </p:txBody>
      </p:sp>
      <p:sp>
        <p:nvSpPr>
          <p:cNvPr id="39" name="Text 37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03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3061543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5061793"/>
            <a:ext cx="14668500" cy="99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de agentes de código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402884"/>
            <a:ext cx="12753975" cy="10513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Dirigir agentes —cuánto intervenir y cuánto delegar— para construir software robusto sin desperdiciar tiempo ni tokens.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07792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AGENTES DE CÓDIGO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de trabajo con agentes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6467475" y="3028950"/>
            <a:ext cx="9525" cy="574357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" y="3081338"/>
            <a:ext cx="190500" cy="190500"/>
          </a:xfrm>
          <a:prstGeom prst="ellipse">
            <a:avLst/>
          </a:prstGeom>
          <a:solidFill>
            <a:srgbClr val="01A2E9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485900" y="3028950"/>
            <a:ext cx="10364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Fase 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3590925"/>
            <a:ext cx="5354003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Planificar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143000" y="4629150"/>
            <a:ext cx="5013293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Investigar y entender el código existente. Escribir la spec: requisitos, diseño y arquitectura. Generar y revisar el plan.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1801475" y="3028950"/>
            <a:ext cx="9525" cy="574357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2" name="Shape 10"/>
          <p:cNvSpPr/>
          <p:nvPr/>
        </p:nvSpPr>
        <p:spPr>
          <a:xfrm>
            <a:off x="6934200" y="3081338"/>
            <a:ext cx="190500" cy="190500"/>
          </a:xfrm>
          <a:prstGeom prst="ellipse">
            <a:avLst/>
          </a:prstGeom>
          <a:solidFill>
            <a:srgbClr val="01A2E9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277100" y="3028950"/>
            <a:ext cx="10364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Fase 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934200" y="3590925"/>
            <a:ext cx="4851083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934200" y="4629150"/>
            <a:ext cx="4542377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construye con autonomía calibrada. Verificar con pruebas automáticas y revisión humana.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2268200" y="3081338"/>
            <a:ext cx="190500" cy="190500"/>
          </a:xfrm>
          <a:prstGeom prst="ellipse">
            <a:avLst/>
          </a:prstGeom>
          <a:solidFill>
            <a:srgbClr val="01A2E9"/>
          </a:solidFill>
          <a:ln/>
          <a:effectLst>
            <a:outerShdw sx="100000" sy="100000" kx="0" ky="0" algn="bl" rotWithShape="0" blurRad="101600" dist="50800" dir="16200000">
              <a:srgbClr val="01A2E9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2611100" y="3028950"/>
            <a:ext cx="10364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Fase 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268200" y="3590925"/>
            <a:ext cx="5023104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y monitorear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2268200" y="5400675"/>
            <a:ext cx="5023104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941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con CI/CD y controles humanos. Agentes que vigilan logs y proponen mejoras.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43000" y="9229725"/>
            <a:ext cx="82981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Proceso iterativo: cada fase puede volver a la anterior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307792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AGENTES DE CÓDIGO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competencias con agentes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295275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" y="441960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40995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05000" y="322897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Dirigir el flujo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810500" y="3352800"/>
            <a:ext cx="961453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esfuerzo humano y de agente en cada fase, y cuándo volver atrás.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143000" y="588645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87680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05000" y="469582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Habilitar autonomía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810500" y="4819650"/>
            <a:ext cx="961453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de delegación, gestión de contexto, agentes en paralelo y permisos.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143000" y="698182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634365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905000" y="616267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el trabajo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810500" y="6286500"/>
            <a:ext cx="102679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funcionales y de comportamiento, revisión agéntica y auditorías.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143000" y="807720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7439025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05000" y="7258050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Personalizar el entorno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810500" y="7381875"/>
            <a:ext cx="102679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MCP, hooks y contexto permanente como AGENTS.md.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1143000" y="91725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8534400"/>
            <a:ext cx="838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905000" y="8353425"/>
            <a:ext cx="649605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 del agente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810500" y="8477250"/>
            <a:ext cx="102679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un harness envuelve al LLM: búsqueda, contexto y subagentes.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143000" y="9563100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6870561" y="95631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3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PILAR 04 DE 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3314849"/>
            <a:ext cx="17602200" cy="165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913"/>
              </a:lnSpc>
              <a:buNone/>
            </a:pPr>
            <a:r>
              <a:rPr lang="en-US" sz="15000" dirty="0">
                <a:solidFill>
                  <a:srgbClr val="01A2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1143000" y="5315099"/>
            <a:ext cx="14668500" cy="998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36"/>
              </a:lnSpc>
              <a:buNone/>
            </a:pPr>
            <a:r>
              <a:rPr lang="en-US" sz="7200" spc="-7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 forma a lo que se construye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6656189"/>
            <a:ext cx="13620750" cy="544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721"/>
              </a:lnSpc>
              <a:buNone/>
            </a:pPr>
            <a:r>
              <a:rPr lang="en-US" sz="285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qué debe construirse, no solo implementar lo que otro especificó.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4054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662708" y="1090613"/>
            <a:ext cx="457200" cy="19050"/>
          </a:xfrm>
          <a:prstGeom prst="rect">
            <a:avLst/>
          </a:prstGeom>
          <a:solidFill>
            <a:srgbClr val="01A2E9"/>
          </a:solidFill>
          <a:ln/>
        </p:spPr>
      </p:sp>
      <p:sp>
        <p:nvSpPr>
          <p:cNvPr id="4" name="Text 2"/>
          <p:cNvSpPr/>
          <p:nvPr/>
        </p:nvSpPr>
        <p:spPr>
          <a:xfrm>
            <a:off x="2310408" y="952500"/>
            <a:ext cx="16295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 FORMA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competencias para dar forma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143000" y="2952750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71625" y="3381375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71625" y="3848100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Conducir el ciclo de construcción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71625" y="4629150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Prototipo, MVP o sistema empresarial: decidir el siguiente paso con sesgo a la acción.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277350" y="2952750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05975" y="3381375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05975" y="3848100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Tomar decisiones de producto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9705975" y="4629150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Sentido de producto, diseño y negocio, basado en empatía con el usuario.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143000" y="6124575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1625" y="6553200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71625" y="7019925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Comunicar y liderar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571625" y="7800975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Alinear marketing, finanzas y legal; explicar qué es técnicamente viable.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277350" y="6124575"/>
            <a:ext cx="7867650" cy="2905125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9525">
            <a:solidFill>
              <a:srgbClr val="E6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5975" y="6553200"/>
            <a:ext cx="771144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705975" y="7019925"/>
            <a:ext cx="771144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Propiedad con alta agencia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9705975" y="7800975"/>
            <a:ext cx="7220712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22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 oportunidades, ejecutar de punta a punta y medir por el valor creado.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143000" y="9410700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870561" y="9410700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81064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REFERENCIA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de conceptos clave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1143000" y="4108400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3177034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038600" y="3205609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que genera texto token a token a partir de un contexto.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525000" y="4108400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0" y="3177034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420600" y="3205609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Información que el modelo recibe en su ventana para responder.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43000" y="5258842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327475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038600" y="4356050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Recuperar datos relevantes e incluirlos en el prompt.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525000" y="5258842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4327475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420600" y="4356050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dentro de un harness que decide su siguiente paso y usa herramientas.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143000" y="6409283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5477917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038600" y="5506492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 abierto para conectar modelos con herramientas y datos.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525000" y="6409283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0" name="Text 18"/>
          <p:cNvSpPr/>
          <p:nvPr/>
        </p:nvSpPr>
        <p:spPr>
          <a:xfrm>
            <a:off x="9525000" y="5477917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420600" y="5506492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 sistemática que mide la calidad de las salidas.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143000" y="7559725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3" name="Text 21"/>
          <p:cNvSpPr/>
          <p:nvPr/>
        </p:nvSpPr>
        <p:spPr>
          <a:xfrm>
            <a:off x="1143000" y="6628358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038600" y="6656933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de requisitos, diseño y arquitectura que guía al agente.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525000" y="7559725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6" name="Text 24"/>
          <p:cNvSpPr/>
          <p:nvPr/>
        </p:nvSpPr>
        <p:spPr>
          <a:xfrm>
            <a:off x="9525000" y="6628358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2420600" y="6656933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Degradación del rendimiento cuando cambian los datos reales.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143000" y="8710166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9" name="Text 27"/>
          <p:cNvSpPr/>
          <p:nvPr/>
        </p:nvSpPr>
        <p:spPr>
          <a:xfrm>
            <a:off x="1143000" y="7778800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left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4038600" y="7807375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Llevar seguridad y pruebas al inicio del ciclo de desarrollo.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525000" y="8710166"/>
            <a:ext cx="7620000" cy="9525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2" name="Text 30"/>
          <p:cNvSpPr/>
          <p:nvPr/>
        </p:nvSpPr>
        <p:spPr>
          <a:xfrm>
            <a:off x="9525000" y="7778800"/>
            <a:ext cx="29337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2420600" y="7807375"/>
            <a:ext cx="4866132" cy="731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419"/>
              </a:lnSpc>
              <a:buNone/>
            </a:pPr>
            <a:r>
              <a:rPr lang="en-US" sz="1950" dirty="0">
                <a:solidFill>
                  <a:srgbClr val="4A5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Versión mínima para validar valor con usuarios reales.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8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1A2E9">
                  <a:alpha val="7000"/>
                </a:srgbClr>
              </a:gs>
              <a:gs pos="100000">
                <a:srgbClr val="01A2E9">
                  <a:alpha val="0"/>
                </a:srgbClr>
              </a:gs>
            </a:gsLst>
            <a:lin ang="5400000" scaled="0"/>
          </a:gra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6000"/>
          </a:blip>
          <a:stretch>
            <a:fillRect/>
          </a:stretch>
        </p:blipFill>
        <p:spPr>
          <a:xfrm>
            <a:off x="10624989" y="1333500"/>
            <a:ext cx="8234511" cy="8191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952500"/>
            <a:ext cx="176022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1A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COMÚN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143000" y="3688110"/>
            <a:ext cx="14668500" cy="11581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163"/>
              </a:lnSpc>
              <a:buNone/>
            </a:pPr>
            <a:r>
              <a:rPr lang="en-US" sz="8400" spc="-8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Aprendizaje continuo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1143000" y="5189190"/>
            <a:ext cx="11772900" cy="163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444"/>
              </a:lnSpc>
              <a:buNone/>
            </a:pPr>
            <a:r>
              <a:rPr lang="en-US" sz="3000" dirty="0">
                <a:solidFill>
                  <a:srgbClr val="B8E4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la frontera tecnológica, probar herramientas nuevas y ajustar los flujos de trabajo a medida que cambian las buenas prácticas.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143000" y="9229725"/>
            <a:ext cx="37719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Engineering Skills Map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8E4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52500"/>
            <a:ext cx="199170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16" kern="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REFERENCIAS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514475"/>
            <a:ext cx="1760220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100" spc="-51" kern="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1143000" y="2952750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143000" y="45243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39433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ago 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38500" y="38671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1 — The AI Engineering Skills Map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143000" y="54387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143000" y="48577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ago 2026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238500" y="47815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2 — Building and Deploying AI Applications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143000" y="63531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43000" y="57721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ago 2026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238500" y="56959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3 — Software Engineering Fundamentals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143000" y="72675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43000" y="66865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sep 2026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238500" y="66103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4 — Using Coding Agents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143000" y="8181975"/>
            <a:ext cx="16002000" cy="9525"/>
          </a:xfrm>
          <a:prstGeom prst="rect">
            <a:avLst/>
          </a:prstGeom>
          <a:solidFill>
            <a:srgbClr val="C9D0D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143000" y="7600950"/>
            <a:ext cx="23050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0283B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sep 2026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238500" y="7524750"/>
            <a:ext cx="15297150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A2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5 — Shaping the Build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43000" y="9229725"/>
            <a:ext cx="588426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Andrew Ng · The Batch · DeepLearning.AI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870561" y="9229725"/>
            <a:ext cx="3506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7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8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1A2E9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65176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0" b="0" spc="-110">
                <a:solidFill>
                  <a:srgbClr val="01A2E9"/>
                </a:solidFill>
                <a:latin typeface="Arial"/>
              </a:rPr>
              <a:t>Innova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581144"/>
            <a:ext cx="14173200" cy="195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spc="-64">
                <a:solidFill>
                  <a:srgbClr val="FFFFFF"/>
                </a:solidFill>
                <a:latin typeface="Arial"/>
              </a:rPr>
              <a:t>Las competencias del mapa, juntas en un proyecto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7223760"/>
            <a:ext cx="13258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0">
                <a:solidFill>
                  <a:srgbClr val="B8E4F9"/>
                </a:solidFill>
                <a:latin typeface="Arial"/>
              </a:rPr>
              <a:t>Un copiloto de IA para un centro de innovación ficticio que atiende MIPYMES de Bolívar. Construido paso a paso, con 11 versiones que puedes revisar en GitHub.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B8E4F9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B8E4F9"/>
                </a:solidFill>
                <a:latin typeface="Courier New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Del problema a una propuesta, en una conversación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26080"/>
            <a:ext cx="50749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327355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PROCESO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68503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4370832"/>
            <a:ext cx="437997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Una empresa escribe; alguien del centro la entrevista, encuadra el caso, hace el análisis a mano y arma la oferta. Semanas.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989320"/>
            <a:ext cx="5074920" cy="2880360"/>
          </a:xfrm>
          <a:prstGeom prst="rect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90472" y="633679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1A2E9"/>
                </a:solidFill>
                <a:latin typeface="Courier New"/>
              </a:rPr>
              <a:t>INNOVA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" y="674827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ial"/>
              </a:rPr>
              <a:t>La idea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7434071"/>
            <a:ext cx="4379976" cy="1252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E6F6FD"/>
                </a:solidFill>
                <a:latin typeface="Arial"/>
              </a:rPr>
              <a:t>Diagnóstico → línea de trabajo → servicio del catálogo con cita → simulación "what if" → pre-propuesta.</a:t>
            </a:r>
          </a:p>
        </p:txBody>
      </p:sp>
      <p:pic>
        <p:nvPicPr>
          <p:cNvPr id="14" name="Picture 13" descr="hotel-getsema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79" y="2942710"/>
            <a:ext cx="6035040" cy="336830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0" y="64008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488"/>
                </a:solidFill>
                <a:latin typeface="Courier New"/>
              </a:rPr>
              <a:t>Ilustración generada con IA (Gemini)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38760" y="2926080"/>
            <a:ext cx="4206240" cy="5943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1A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0" y="3246120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EL CASO DE LA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0" y="37033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Hotel Brisas de Getsemaní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0" y="4800600"/>
            <a:ext cx="36118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24 habitaciones · Cartagena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Filas de hasta 40 min en el check-in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2 recepcionistas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18 huéspedes por hora en el pico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6 minutos por check-in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Quejas en las reseñas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90372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A2850"/>
                </a:solidFill>
                <a:latin typeface="Arial"/>
              </a:rPr>
              <a:t>¿Por qué no solo IA? </a:t>
            </a:r>
            <a:r>
              <a:rPr sz="1900" b="0">
                <a:solidFill>
                  <a:srgbClr val="4A5266"/>
                </a:solidFill>
                <a:latin typeface="Arial"/>
              </a:rPr>
              <a:t>El LLM entiende y redacta; los precios salen del catálogo, los cálculos de una herramienta y la decisión es de una persona.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EL RECORRIDO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11 pasos, 11 tags de git</a:t>
            </a:r>
          </a:p>
        </p:txBody>
      </p:sp>
      <p:sp>
        <p:nvSpPr>
          <p:cNvPr id="6" name="Rectangle 5"/>
          <p:cNvSpPr/>
          <p:nvPr/>
        </p:nvSpPr>
        <p:spPr>
          <a:xfrm>
            <a:off x="1623060" y="4677156"/>
            <a:ext cx="14630400" cy="18288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4206240"/>
            <a:ext cx="960120" cy="960120"/>
          </a:xfrm>
          <a:prstGeom prst="ellipse">
            <a:avLst/>
          </a:prstGeom>
          <a:solidFill>
            <a:srgbClr val="7DC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1A2850"/>
                </a:solidFill>
                <a:latin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Dar forma</a:t>
            </a:r>
          </a:p>
        </p:txBody>
      </p:sp>
      <p:sp>
        <p:nvSpPr>
          <p:cNvPr id="9" name="Oval 8"/>
          <p:cNvSpPr/>
          <p:nvPr/>
        </p:nvSpPr>
        <p:spPr>
          <a:xfrm>
            <a:off x="2606040" y="4206240"/>
            <a:ext cx="960120" cy="960120"/>
          </a:xfrm>
          <a:prstGeom prst="ellipse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Entorno del agente</a:t>
            </a:r>
          </a:p>
        </p:txBody>
      </p:sp>
      <p:sp>
        <p:nvSpPr>
          <p:cNvPr id="11" name="Oval 10"/>
          <p:cNvSpPr/>
          <p:nvPr/>
        </p:nvSpPr>
        <p:spPr>
          <a:xfrm>
            <a:off x="4069080" y="4206240"/>
            <a:ext cx="960120" cy="960120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Arquitectura y datos</a:t>
            </a:r>
          </a:p>
        </p:txBody>
      </p:sp>
      <p:sp>
        <p:nvSpPr>
          <p:cNvPr id="13" name="Oval 12"/>
          <p:cNvSpPr/>
          <p:nvPr/>
        </p:nvSpPr>
        <p:spPr>
          <a:xfrm>
            <a:off x="553212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Primer LLM</a:t>
            </a:r>
          </a:p>
        </p:txBody>
      </p:sp>
      <p:sp>
        <p:nvSpPr>
          <p:cNvPr id="15" name="Oval 14"/>
          <p:cNvSpPr/>
          <p:nvPr/>
        </p:nvSpPr>
        <p:spPr>
          <a:xfrm>
            <a:off x="699516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Evals</a:t>
            </a:r>
          </a:p>
        </p:txBody>
      </p:sp>
      <p:sp>
        <p:nvSpPr>
          <p:cNvPr id="17" name="Oval 16"/>
          <p:cNvSpPr/>
          <p:nvPr/>
        </p:nvSpPr>
        <p:spPr>
          <a:xfrm>
            <a:off x="845820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RAG</a:t>
            </a:r>
          </a:p>
        </p:txBody>
      </p:sp>
      <p:sp>
        <p:nvSpPr>
          <p:cNvPr id="19" name="Oval 18"/>
          <p:cNvSpPr/>
          <p:nvPr/>
        </p:nvSpPr>
        <p:spPr>
          <a:xfrm>
            <a:off x="992124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20" name="Oval 19"/>
          <p:cNvSpPr/>
          <p:nvPr/>
        </p:nvSpPr>
        <p:spPr>
          <a:xfrm>
            <a:off x="10607040" y="4160520"/>
            <a:ext cx="310896" cy="310896"/>
          </a:xfrm>
          <a:prstGeom prst="ellipse">
            <a:avLst/>
          </a:prstGeom>
          <a:solidFill>
            <a:srgbClr val="0283B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Agente</a:t>
            </a:r>
          </a:p>
        </p:txBody>
      </p:sp>
      <p:sp>
        <p:nvSpPr>
          <p:cNvPr id="22" name="Oval 21"/>
          <p:cNvSpPr/>
          <p:nvPr/>
        </p:nvSpPr>
        <p:spPr>
          <a:xfrm>
            <a:off x="1138428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23" name="Oval 22"/>
          <p:cNvSpPr/>
          <p:nvPr/>
        </p:nvSpPr>
        <p:spPr>
          <a:xfrm>
            <a:off x="12070080" y="4160520"/>
            <a:ext cx="310896" cy="310896"/>
          </a:xfrm>
          <a:prstGeom prst="ellipse">
            <a:avLst/>
          </a:prstGeom>
          <a:solidFill>
            <a:srgbClr val="7DCEF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ML clásico</a:t>
            </a:r>
          </a:p>
        </p:txBody>
      </p:sp>
      <p:sp>
        <p:nvSpPr>
          <p:cNvPr id="25" name="Oval 24"/>
          <p:cNvSpPr/>
          <p:nvPr/>
        </p:nvSpPr>
        <p:spPr>
          <a:xfrm>
            <a:off x="12847320" y="4206240"/>
            <a:ext cx="960120" cy="960120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26" name="Oval 25"/>
          <p:cNvSpPr/>
          <p:nvPr/>
        </p:nvSpPr>
        <p:spPr>
          <a:xfrm>
            <a:off x="13533120" y="4160520"/>
            <a:ext cx="310896" cy="310896"/>
          </a:xfrm>
          <a:prstGeom prst="ellipse">
            <a:avLst/>
          </a:prstGeom>
          <a:solidFill>
            <a:srgbClr val="1A285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7300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Producto y revisión</a:t>
            </a:r>
          </a:p>
        </p:txBody>
      </p:sp>
      <p:sp>
        <p:nvSpPr>
          <p:cNvPr id="28" name="Oval 27"/>
          <p:cNvSpPr/>
          <p:nvPr/>
        </p:nvSpPr>
        <p:spPr>
          <a:xfrm>
            <a:off x="14310360" y="4206240"/>
            <a:ext cx="960120" cy="960120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29" name="Oval 28"/>
          <p:cNvSpPr/>
          <p:nvPr/>
        </p:nvSpPr>
        <p:spPr>
          <a:xfrm>
            <a:off x="14996159" y="4160520"/>
            <a:ext cx="310896" cy="310896"/>
          </a:xfrm>
          <a:prstGeom prst="ellipse">
            <a:avLst/>
          </a:prstGeom>
          <a:solidFill>
            <a:srgbClr val="0283B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03604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Producción</a:t>
            </a:r>
          </a:p>
        </p:txBody>
      </p:sp>
      <p:sp>
        <p:nvSpPr>
          <p:cNvPr id="31" name="Oval 30"/>
          <p:cNvSpPr/>
          <p:nvPr/>
        </p:nvSpPr>
        <p:spPr>
          <a:xfrm>
            <a:off x="15773400" y="4206240"/>
            <a:ext cx="960120" cy="960120"/>
          </a:xfrm>
          <a:prstGeom prst="ellipse">
            <a:avLst/>
          </a:prstGeom>
          <a:solidFill>
            <a:srgbClr val="7DC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1A2850"/>
                </a:solidFill>
                <a:latin typeface="Arial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499080" y="5394959"/>
            <a:ext cx="1508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1A2850"/>
                </a:solidFill>
                <a:latin typeface="Arial"/>
              </a:rPr>
              <a:t>Cierre</a:t>
            </a:r>
          </a:p>
        </p:txBody>
      </p:sp>
      <p:sp>
        <p:nvSpPr>
          <p:cNvPr id="33" name="Oval 32"/>
          <p:cNvSpPr/>
          <p:nvPr/>
        </p:nvSpPr>
        <p:spPr>
          <a:xfrm>
            <a:off x="1143000" y="7086600"/>
            <a:ext cx="310896" cy="310896"/>
          </a:xfrm>
          <a:prstGeom prst="ellipse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1 · Apps de IA</a:t>
            </a:r>
          </a:p>
        </p:txBody>
      </p:sp>
      <p:sp>
        <p:nvSpPr>
          <p:cNvPr id="35" name="Oval 34"/>
          <p:cNvSpPr/>
          <p:nvPr/>
        </p:nvSpPr>
        <p:spPr>
          <a:xfrm>
            <a:off x="5166360" y="7086600"/>
            <a:ext cx="310896" cy="310896"/>
          </a:xfrm>
          <a:prstGeom prst="ellipse">
            <a:avLst/>
          </a:prstGeom>
          <a:solidFill>
            <a:srgbClr val="028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2 · Software</a:t>
            </a:r>
          </a:p>
        </p:txBody>
      </p:sp>
      <p:sp>
        <p:nvSpPr>
          <p:cNvPr id="37" name="Oval 36"/>
          <p:cNvSpPr/>
          <p:nvPr/>
        </p:nvSpPr>
        <p:spPr>
          <a:xfrm>
            <a:off x="9189720" y="7086600"/>
            <a:ext cx="310896" cy="310896"/>
          </a:xfrm>
          <a:prstGeom prst="ellipse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4692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3 · Agentes de código</a:t>
            </a:r>
          </a:p>
        </p:txBody>
      </p:sp>
      <p:sp>
        <p:nvSpPr>
          <p:cNvPr id="39" name="Oval 38"/>
          <p:cNvSpPr/>
          <p:nvPr/>
        </p:nvSpPr>
        <p:spPr>
          <a:xfrm>
            <a:off x="13213080" y="7086600"/>
            <a:ext cx="310896" cy="310896"/>
          </a:xfrm>
          <a:prstGeom prst="ellipse">
            <a:avLst/>
          </a:prstGeom>
          <a:solidFill>
            <a:srgbClr val="7DC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670280" y="7068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Pilar 4 · Dar forma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863840"/>
            <a:ext cx="1600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283BA"/>
                </a:solidFill>
                <a:latin typeface="Courier New"/>
              </a:rPr>
              <a:t>git checkout paso-05-rag</a:t>
            </a:r>
            <a:r>
              <a:rPr sz="2000" b="0">
                <a:solidFill>
                  <a:srgbClr val="4A5266"/>
                </a:solidFill>
                <a:latin typeface="Arial"/>
              </a:rPr>
              <a:t>  → el proyecto exactamente como estaba en ese punto, funcionando. Cada paso tiene su doc, su bitácora del agente y su "reprodúcelo tú".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02 ·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Arquitectura simple, en producción desde el día 1</a:t>
            </a:r>
          </a:p>
        </p:txBody>
      </p:sp>
      <p:pic>
        <p:nvPicPr>
          <p:cNvPr id="6" name="Picture 5" descr="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177" y="2788920"/>
            <a:ext cx="15913645" cy="4800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43000" y="7818120"/>
            <a:ext cx="5120640" cy="9144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795527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Next.js + Vercel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8412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UI y API juntas; cada push despliega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7818120"/>
            <a:ext cx="5120640" cy="9144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795527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8412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Postgres, vectores, auth y RLS en todas las tablas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24360" y="7818120"/>
            <a:ext cx="5120640" cy="9144"/>
          </a:xfrm>
          <a:prstGeom prst="rect">
            <a:avLst/>
          </a:prstGeom>
          <a:solidFill>
            <a:srgbClr val="C9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24360" y="7955279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Claude Sonnet 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24360" y="841248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266"/>
                </a:solidFill>
                <a:latin typeface="Arial"/>
              </a:rPr>
              <a:t>agente; Haiku 4.5 como juez de las evals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03 · FUNDAMENTOS DE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Sin datos, el modelo inventa con seguridad</a:t>
            </a:r>
          </a:p>
        </p:txBody>
      </p:sp>
      <p:pic>
        <p:nvPicPr>
          <p:cNvPr id="6" name="Picture 5" descr="paso03-rec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937201"/>
            <a:ext cx="8503920" cy="43668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43000" y="2926080"/>
            <a:ext cx="8503920" cy="4389120"/>
          </a:xfrm>
          <a:prstGeom prst="rect">
            <a:avLst/>
          </a:prstGeom>
          <a:noFill/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7498079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488"/>
                </a:solidFill>
                <a:latin typeface="Courier New"/>
              </a:rPr>
              <a:t>Respuesta real del paso 03 (docs/evidencia/paso-03)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2926080"/>
            <a:ext cx="6766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spc="-60">
                <a:solidFill>
                  <a:srgbClr val="1A2850"/>
                </a:solidFill>
                <a:latin typeface="Arial"/>
              </a:rPr>
              <a:t>COP 6–12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3977639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rango que "recomendó" el modelo para el hotel…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4892040"/>
            <a:ext cx="6766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spc="-60">
                <a:solidFill>
                  <a:srgbClr val="0283BA"/>
                </a:solidFill>
                <a:latin typeface="Arial"/>
              </a:rPr>
              <a:t>COP 8–25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594360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…y lo que dice la ficha real del catálogo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903720"/>
            <a:ext cx="6766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1A2850"/>
                </a:solidFill>
                <a:latin typeface="Arial"/>
              </a:rPr>
              <a:t>Tokens, contexto, caché: </a:t>
            </a:r>
            <a:r>
              <a:rPr sz="1900" b="0">
                <a:solidFill>
                  <a:srgbClr val="4A5266"/>
                </a:solidFill>
                <a:latin typeface="Arial"/>
              </a:rPr>
              <a:t>el caché bajó un 78,6 % el costo de la entrada. </a:t>
            </a:r>
            <a:r>
              <a:rPr sz="1900" b="0">
                <a:solidFill>
                  <a:srgbClr val="0283BA"/>
                </a:solidFill>
                <a:latin typeface="Courier New"/>
              </a:rPr>
              <a:t>temperature</a:t>
            </a:r>
            <a:r>
              <a:rPr sz="1900" b="0">
                <a:solidFill>
                  <a:srgbClr val="4A5266"/>
                </a:solidFill>
                <a:latin typeface="Arial"/>
              </a:rPr>
              <a:t> ya no existe en Sonnet 5.5: el control es </a:t>
            </a:r>
            <a:r>
              <a:rPr sz="1900" b="0">
                <a:solidFill>
                  <a:srgbClr val="0283BA"/>
                </a:solidFill>
                <a:latin typeface="Courier New"/>
              </a:rPr>
              <a:t>effort</a:t>
            </a:r>
            <a:r>
              <a:rPr sz="1900" b="0">
                <a:solidFill>
                  <a:srgbClr val="4A5266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04 · DESARROLLO GUIADO POR 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Sin evals, cada cambio es una opinión</a:t>
            </a:r>
          </a:p>
        </p:txBody>
      </p:sp>
      <p:pic>
        <p:nvPicPr>
          <p:cNvPr id="6" name="Picture 5" descr="evals-ev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233998"/>
            <a:ext cx="10241280" cy="51448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887200" y="283464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3 → 24 →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0" y="388620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de 30 casos pasan todos los chequeos (pasos 03 → 05 → 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0" y="489204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1A2850"/>
                </a:solidFill>
                <a:latin typeface="Arial"/>
              </a:rPr>
              <a:t>37 % → 100 %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0" y="594360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de respuestas sin precios inventados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0" y="6949440"/>
            <a:ext cx="5303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A2850"/>
                </a:solidFill>
                <a:latin typeface="Arial"/>
              </a:rPr>
              <a:t>La eval también tuvo bugs: </a:t>
            </a:r>
            <a:r>
              <a:rPr sz="1800" b="0">
                <a:solidFill>
                  <a:srgbClr val="4A5266"/>
                </a:solidFill>
                <a:latin typeface="Arial"/>
              </a:rPr>
              <a:t>el primer juez premió un precio inventado y el primer dataset castigaba hacer preguntas. Lo vimos leyendo los fallos uno por uno.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05 · FUNDAMENTAR CON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No cambiamos el modelo: cambiamos lo que sabe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26080"/>
            <a:ext cx="50749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327355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SERVICIO CORRECTO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68503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1A2850"/>
                </a:solidFill>
                <a:latin typeface="Arial"/>
              </a:rPr>
              <a:t>30 % → 100 %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4370832"/>
            <a:ext cx="437997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recomienda un servicio real del catálogo, con enlace a la ficha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926080"/>
            <a:ext cx="50749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1152" y="3273552"/>
            <a:ext cx="437997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BÚSQUEDA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3685032"/>
            <a:ext cx="43799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A2850"/>
                </a:solidFill>
                <a:latin typeface="Arial"/>
              </a:rPr>
              <a:t>FTS 6/8 · híbrido 8/8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31152" y="4370832"/>
            <a:ext cx="437997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con paráfrasis sin palabras del catálogo ("botamos comida todos los días")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24360" y="2926080"/>
            <a:ext cx="51206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71832" y="3273552"/>
            <a:ext cx="442569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TÉCNICA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71832" y="3685032"/>
            <a:ext cx="44256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A2850"/>
                </a:solidFill>
                <a:latin typeface="Arial"/>
              </a:rPr>
              <a:t>Small-to-big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71832" y="4370832"/>
            <a:ext cx="442569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busca en fragmentos, entrega al modelo la ficha completa: nunca un precio suelto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69494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630936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En el prompt (con caché)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632764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4A5266"/>
                </a:solidFill>
                <a:latin typeface="Arial"/>
              </a:rPr>
              <a:t>reglas · 3 políticas · índice de nombres de servicios, sin precios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8638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722376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Por recuperación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724204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4A5266"/>
                </a:solidFill>
                <a:latin typeface="Arial"/>
              </a:rPr>
              <a:t>fichas completas: precios, entregables, duración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7782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13816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Ni grafo ni base vectorial aparte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815644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4A5266"/>
                </a:solidFill>
                <a:latin typeface="Arial"/>
              </a:rPr>
              <a:t>13 documentos sin relaciones: Postgres + pgvector basta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06 · SISTEMAS AGÉNTICOS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El LLM no calcula: decide quién calcula</a:t>
            </a:r>
          </a:p>
        </p:txBody>
      </p:sp>
      <p:pic>
        <p:nvPicPr>
          <p:cNvPr id="6" name="Picture 5" descr="hotel-simu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757226"/>
            <a:ext cx="11338560" cy="49097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93040" y="283464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1A2850"/>
                </a:solidFill>
                <a:latin typeface="Arial"/>
              </a:rPr>
              <a:t>30,2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93040" y="388620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espera p90 hoy (1 de cada 10 huéspedes espera más)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93040" y="489204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0,8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93040" y="594360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espera media con check-in digital previo (con una 3.ª recepcionista: 1,8 min)</a:t>
            </a:r>
          </a:p>
        </p:txBody>
      </p:sp>
      <p:pic>
        <p:nvPicPr>
          <p:cNvPr id="11" name="Picture 10" descr="llm-no-calcul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3040" y="6903720"/>
            <a:ext cx="3276685" cy="1828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893040" y="8778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488"/>
                </a:solidFill>
                <a:latin typeface="Courier New"/>
              </a:rPr>
              <a:t>Ilustración generada con IA (Gemini)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863840"/>
            <a:ext cx="11338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0283BA"/>
                </a:solidFill>
                <a:latin typeface="Courier New"/>
              </a:rPr>
              <a:t>simulate_queue</a:t>
            </a:r>
            <a:r>
              <a:rPr sz="1800" b="0">
                <a:solidFill>
                  <a:srgbClr val="4A5266"/>
                </a:solidFill>
                <a:latin typeface="Arial"/>
              </a:rPr>
              <a:t>: Erlang C + simulación de eventos discretos con semilla fija, 17 tests. El texto del agente usó exactamente sus cifras en 4 de 4 casos de la eval.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06 · AGENTE Y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Actuar, pero con permiso</a:t>
            </a:r>
          </a:p>
        </p:txBody>
      </p:sp>
      <p:pic>
        <p:nvPicPr>
          <p:cNvPr id="6" name="Picture 5" descr="pre-propuesta-rec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663082"/>
            <a:ext cx="8778240" cy="428671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43000" y="2743200"/>
            <a:ext cx="8778240" cy="6126480"/>
          </a:xfrm>
          <a:prstGeom prst="rect">
            <a:avLst/>
          </a:prstGeom>
          <a:noFill/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424160" y="2788920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44200" y="2788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Aprobación humana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32461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Guardar la pre-propuesta exige el botón "Sí, guardar", y la aprobación va firmada.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24160" y="4325112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44200" y="432511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El precio lo pone el código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4782312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El rango de inversión sale del catálogo, no del modelo.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5861304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586130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Protección de la URL del QR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6318504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Límite de mensajes por IP y sesión, tope diario, límite de tamaño y fallo cerrado.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24160" y="7397496"/>
            <a:ext cx="73152" cy="1234440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44200" y="739749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A2850"/>
                </a:solidFill>
                <a:latin typeface="Arial"/>
              </a:rPr>
              <a:t>Plan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7854696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AI_MODE=mock: la misma demo sin red ni claves.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07 · FUNDAMENTOS DE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¿Siempre un LLM? Mismo test, tres modelos</a:t>
            </a:r>
          </a:p>
        </p:txBody>
      </p:sp>
      <p:pic>
        <p:nvPicPr>
          <p:cNvPr id="6" name="Picture 5" descr="ml-vs-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233" y="2697480"/>
            <a:ext cx="10339533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Costo / 1.000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0" y="6400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Latencia p50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731520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TF-IDF + regresión logística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91,7 %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≈ US$ 0 (local)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0" y="690372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0,6 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81812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Haiku 4.5 zero-shot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86,1 %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US$ 0,30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0" y="7406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613,3 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321040"/>
            <a:ext cx="1600200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Haiku 4.5 few-shot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97,2 %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US$ 1,02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0" y="790956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A2850"/>
                </a:solidFill>
                <a:latin typeface="Arial"/>
              </a:rPr>
              <a:t>527,7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868680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36 casos de prueba sintéticos: 1 caso = 2,8 puntos. Decisión: el agente clasifica en la conversación; el modelo clásico, para triage masivo y drift.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PASOS 01 Y 08 · AGENTES DE CÓDIGO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Todo esto lo construyó un agente de código</a:t>
            </a:r>
          </a:p>
        </p:txBody>
      </p:sp>
      <p:pic>
        <p:nvPicPr>
          <p:cNvPr id="6" name="Picture 5" descr="harness-age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260" y="2788920"/>
            <a:ext cx="5734199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6035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488"/>
                </a:solidFill>
                <a:latin typeface="Courier New"/>
              </a:rPr>
              <a:t>Ilustración generada con IA (Gemini)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8346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CLAUDE.md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2852928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la inducción del agente: arquitectura, comandos, "nunca inventes métricas"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3593592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37033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Hooks y permisos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3721607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bloquea escribir claves; no puede leer .env ni forzar un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4462272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45720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Subagente revisor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4590288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contexto limpio, solo lectura: "NOT READY", 3 fallas graves en 7 minutos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5330952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544067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Bitácora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5458967"/>
            <a:ext cx="6537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4A5266"/>
                </a:solidFill>
                <a:latin typeface="Arial"/>
              </a:rPr>
              <a:t>el prompt exacto de cada paso y cada error, sin editar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6199631"/>
            <a:ext cx="973836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6583680"/>
            <a:ext cx="16002000" cy="2240280"/>
          </a:xfrm>
          <a:prstGeom prst="rect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8760" y="6858000"/>
            <a:ext cx="1527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1A2E9"/>
                </a:solidFill>
                <a:latin typeface="Courier New"/>
              </a:rPr>
              <a:t>DE LA BITÁCORA DEL PASO 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7315200"/>
            <a:ext cx="15270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B8E4F9"/>
                </a:solidFill>
                <a:latin typeface="Arial"/>
              </a:rPr>
              <a:t>El modelo escribió: </a:t>
            </a:r>
            <a:r>
              <a:rPr sz="2000" b="0">
                <a:solidFill>
                  <a:srgbClr val="FFFFFF"/>
                </a:solidFill>
                <a:latin typeface="Arial"/>
              </a:rPr>
              <a:t>"te di cifras de simulación sin haber consultado las herramientas. No debí hacerlo". </a:t>
            </a:r>
            <a:r>
              <a:rPr sz="2000" b="0">
                <a:solidFill>
                  <a:srgbClr val="B8E4F9"/>
                </a:solidFill>
                <a:latin typeface="Arial"/>
              </a:rPr>
              <a:t>Sí las había consultado: el bug era nuestro (el historial perdía las llamadas). El modelo "confesando" un error que no cometió fue la pista.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PASO 09 · OPERACIÓN EN PRODUCCIÓN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Lo que no se mide en producción, no existe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260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US$ 0,016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costo promedio por conversación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9260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1A2850"/>
                </a:solidFill>
                <a:latin typeface="Arial"/>
              </a:rPr>
              <a:t>6,2 / 13,2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latencia por respuesta, p50 / p95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95760" y="2926080"/>
            <a:ext cx="5394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spc="-60">
                <a:solidFill>
                  <a:srgbClr val="0283BA"/>
                </a:solidFill>
                <a:latin typeface="Arial"/>
              </a:rPr>
              <a:t>TVD 0,30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0" y="3977639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alerta de drift (umbral 0,2): avalancha de solicitudes de propiedad intelectual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1600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6B7488"/>
                </a:solidFill>
                <a:latin typeface="Arial"/>
              </a:rPr>
              <a:t>Telemetría real de 10 conversaciones (15 respuestas) hasta el 2026-09-29: muestra pequeña. El drift usa tráfico simulado y marcado como 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03504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6199631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Telemetría por turno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6656831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tokens, costo, latencia, herramientas, errores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60" y="603504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6199631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Evals de regresión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656831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un cambio de prompt sin eval en vivo no pasa el CI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745236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7616952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Runbook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807415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API caída → modo mock; costo → tope diario; abuso → límites; rollback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81160" y="7452360"/>
            <a:ext cx="77724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7616952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>
                <a:solidFill>
                  <a:srgbClr val="1A2850"/>
                </a:solidFill>
                <a:latin typeface="Arial"/>
              </a:rPr>
              <a:t>Riesgo con fecha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8074152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4A5266"/>
                </a:solidFill>
                <a:latin typeface="Arial"/>
              </a:rPr>
              <a:t>Haiku 4.5 se retira no antes del 15 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88136"/>
            <a:ext cx="457200" cy="18288"/>
          </a:xfrm>
          <a:prstGeom prst="rect">
            <a:avLst/>
          </a:prstGeom>
          <a:solidFill>
            <a:srgbClr val="01A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283BA"/>
                </a:solidFill>
                <a:latin typeface="Courier New"/>
              </a:rPr>
              <a:t>LECCIONES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1A2850"/>
                </a:solidFill>
                <a:latin typeface="Arial"/>
              </a:rPr>
              <a:t>Una lección por pilar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26080"/>
            <a:ext cx="7772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0472" y="327355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01 · APPS DE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68503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Los datos pesan más que el modelo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437083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El mismo modelo pasó de 10 % a 80 % de casos correctos con RAG. Y las cifras las calcula una herramienta.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81160" y="2926080"/>
            <a:ext cx="7772400" cy="2834640"/>
          </a:xfrm>
          <a:prstGeom prst="rect">
            <a:avLst/>
          </a:prstGeom>
          <a:solidFill>
            <a:srgbClr val="1A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28632" y="327355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1A2E9"/>
                </a:solidFill>
                <a:latin typeface="Courier New"/>
              </a:rPr>
              <a:t>02 ·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8632" y="368503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Arial"/>
              </a:rPr>
              <a:t>Prueba como atacante, no como usuario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8632" y="437083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E6F6FD"/>
                </a:solidFill>
                <a:latin typeface="Arial"/>
              </a:rPr>
              <a:t>Los guardrails pasaban las pruebas de la UI; el revisor fabricó el historial y encontró tres formas de disparar la factura.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5989320"/>
            <a:ext cx="7772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90472" y="633679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03 · AGENTES DE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674827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Una regla pide; un hook garantiza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743407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Permisos, hooks, CI y un revisor con contexto limpio. El humano decidió qué construir y cuándo recortar.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5989320"/>
            <a:ext cx="7772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8632" y="6336792"/>
            <a:ext cx="7077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0283BA"/>
                </a:solidFill>
                <a:latin typeface="Courier New"/>
              </a:rPr>
              <a:t>04 · DAR FORMA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8632" y="6748272"/>
            <a:ext cx="70774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2850"/>
                </a:solidFill>
                <a:latin typeface="Arial"/>
              </a:rPr>
              <a:t>Mide antes de creer, incluso tu eval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28632" y="7434072"/>
            <a:ext cx="7077456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4A5266"/>
                </a:solidFill>
                <a:latin typeface="Arial"/>
              </a:rPr>
              <a:t>El primer 53 % era un defecto del dataset. Leer los fallos a mano evitó una conclusión falsa.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B7488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6B7488"/>
                </a:solidFill>
                <a:latin typeface="Courier New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8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950976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spc="216">
                <a:solidFill>
                  <a:srgbClr val="01A2E9"/>
                </a:solidFill>
                <a:latin typeface="Courier New"/>
              </a:rPr>
              <a:t>CASO PRÁCTICO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1517904"/>
            <a:ext cx="1600200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100" b="0" spc="-51">
                <a:solidFill>
                  <a:srgbClr val="FFFFFF"/>
                </a:solidFill>
                <a:latin typeface="Arial"/>
              </a:rPr>
              <a:t>Pruébalo y revísalo tú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2697480"/>
            <a:ext cx="429768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880360"/>
            <a:ext cx="393192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25880" y="717804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50" b="0">
                <a:solidFill>
                  <a:srgbClr val="FFFFFF"/>
                </a:solidFill>
                <a:latin typeface="Arial"/>
              </a:rPr>
              <a:t>El código, paso a paso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77240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B8E4F9"/>
                </a:solidFill>
                <a:latin typeface="Courier New"/>
              </a:rPr>
              <a:t>github.com/FutureTales/ai-engineering-demo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9840" y="2697480"/>
            <a:ext cx="4297680" cy="429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880360"/>
            <a:ext cx="3931920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64040" y="717804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50" b="0">
                <a:solidFill>
                  <a:srgbClr val="FFFFFF"/>
                </a:solidFill>
                <a:latin typeface="Arial"/>
              </a:rPr>
              <a:t>La app en vivo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777240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B8E4F9"/>
                </a:solidFill>
                <a:latin typeface="Courier New"/>
              </a:rPr>
              <a:t>innova-copilot.vercel.app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8641080"/>
            <a:ext cx="1600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B8E4F9"/>
                </a:solidFill>
                <a:latin typeface="Courier New"/>
              </a:rPr>
              <a:t>Demo educativa · el centro, sus servicios y las empresas son ficticios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9226296"/>
            <a:ext cx="8229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B8E4F9"/>
                </a:solidFill>
                <a:latin typeface="Courier New"/>
              </a:rPr>
              <a:t>AI Engineering Skills Map · Caso práctico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7800" y="9226296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>
                <a:solidFill>
                  <a:srgbClr val="B8E4F9"/>
                </a:solidFill>
                <a:latin typeface="Courier New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2026-09-29T13:24:33Z</dcterms:created>
  <dcterms:modified xsi:type="dcterms:W3CDTF">2026-09-29T13:24:33Z</dcterms:modified>
</cp:coreProperties>
</file>