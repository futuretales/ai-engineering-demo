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72" r:id="rId18"/>
  </p:sldIdLst>
  <p:notesMasterIdLst>
    <p:notesMasterId r:id="rId1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mapa de habilidades de AI Engineering publicado por Andrew Ng y DeepLearning.AI en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se construyó con datos: más de 10.000 ofertas de empleo, entrevistas y encuestas. Ng lo describe como un clustering sobre un dataset masivo.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Analogía con la nube: todos los desarrolladores trabajan con la nube, pocos tienen el título de Cloud Engineer. Igual con AI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pilares del mapa. Debajo de todos: una mentalidad de aprendizaje continuo.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 clave: las aplicaciones de IA tienen salidas impredecibles. El trabajo consiste en medir, dirigir y gobernar ese comportamiento.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competencias. Construir IA es más iterativo que el software tradicional: construir, examinar y decidir el siguiente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Según Ng, el rasgo que más distingue a quien construye bien sistemas de IA es conducir un ciclo disciplinado de evals y análisis de errores. Tres tipos de eval: deterministas, LLM-as-a-judge y humano en el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un agente escriba todo el código, entender los fundamentos permite dirigirlo hacia las compensaciones correctas.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Quien hace vibe coding sin fundamentos deja que el agente tome malas decisiones en latencia, disponibilidad, costo, etc., sin saber siquiera que existían.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habilidad que evoluciona más rápido de las cuatro. Requiere experimentar continuamente con herramientas y flujos.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parecido al de antes, pero el foco pasa del código a decidir qué construir, diseñar la arquitectura, escribir la spec y verificar. Es iterativo: si la verificación falla, se vuelve atrás.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 advierte que las redes sociales simplifican de más: las tareas autónomas de horas se sobrevaloran. El uso efectivo es iterativo y con juicio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una spec clara, los agentes entregan cada vez mejor. El trabajo del ingeniero se desplaza hacia decidir qué debe contener 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roles de producto, diseño y desarrollo se difuminan. Un ingeniero con estas habilidades avanza sin esperar a que un PM decida cada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Definiciones de referencia para los conceptos que aparecen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Debajo de las cuatro habilidades está una mentalidad de aprendizaje continuo: la IA cambia rápido y las buenas prácticas también.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Serie de cinco cartas de Andrew Ng en The Batch, agosto y septiembre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10624989" y="1333500"/>
            <a:ext cx="8234511" cy="8191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952500"/>
            <a:ext cx="4526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48300" y="1090613"/>
            <a:ext cx="6096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6" name="Text 3"/>
          <p:cNvSpPr/>
          <p:nvPr/>
        </p:nvSpPr>
        <p:spPr>
          <a:xfrm>
            <a:off x="6248400" y="952500"/>
            <a:ext cx="73461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43000" y="3156347"/>
            <a:ext cx="12753975" cy="26027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166"/>
              </a:lnSpc>
              <a:buNone/>
            </a:pPr>
            <a:r>
              <a:rPr lang="en-US" sz="9900" spc="-1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Habilidades esenciales en </a:t>
            </a:r>
            <a:pPr algn="l" indent="0" marL="0">
              <a:lnSpc>
                <a:spcPct val="89166"/>
              </a:lnSpc>
              <a:buNone/>
            </a:pPr>
            <a:r>
              <a:rPr lang="en-US" sz="9900" spc="-198" kern="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9900" dirty="0"/>
          </a:p>
        </p:txBody>
      </p:sp>
      <p:sp>
        <p:nvSpPr>
          <p:cNvPr id="8" name="Text 5"/>
          <p:cNvSpPr/>
          <p:nvPr/>
        </p:nvSpPr>
        <p:spPr>
          <a:xfrm>
            <a:off x="1143000" y="6101953"/>
            <a:ext cx="1079182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todo desarrollador necesita saber para construir con IA hoy.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143000" y="9039225"/>
            <a:ext cx="84491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Basado en el AI Engineering Skills Map — DeepLearning.AI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870561" y="90392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44851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del mapa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1143000" y="3871913"/>
            <a:ext cx="9356735" cy="2266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19500" spc="-585" kern="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10.000+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1143000" y="6329363"/>
            <a:ext cx="7456170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ofertas de empleo analizadas para identificar las habilidades más demandadas.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01623" y="311467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0601623" y="507682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0601623" y="346710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01623" y="3857625"/>
            <a:ext cx="673967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Decenas de entrevistas con expertos, líderes de contratación y reclutadores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601623" y="660082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1" name="Text 9"/>
          <p:cNvSpPr/>
          <p:nvPr/>
        </p:nvSpPr>
        <p:spPr>
          <a:xfrm>
            <a:off x="10601623" y="542925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01623" y="5819775"/>
            <a:ext cx="719771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Encuestas y síntesis de datos públicos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601623" y="856297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1623" y="695325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01623" y="7343775"/>
            <a:ext cx="673967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Ayudar a priorizar qué aprender y a quién contratar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21727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TERMINOLOGÍA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Habilidad, no solo un rol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4085332"/>
            <a:ext cx="7772400" cy="3516511"/>
          </a:xfrm>
          <a:prstGeom prst="roundRect">
            <a:avLst>
              <a:gd name="adj" fmla="val 4334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  <a:effectLst>
            <a:outerShdw sx="100000" sy="100000" kx="0" ky="0" algn="bl" rotWithShape="0" blurRad="76200" dist="19050" dir="5400000">
              <a:srgbClr val="1A285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685925" y="4628257"/>
            <a:ext cx="735520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85925" y="5152132"/>
            <a:ext cx="73552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685925" y="6152257"/>
            <a:ext cx="688714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cuyo trabajo es construir sistemas de IA. Un grupo acotado.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09057"/>
            <a:ext cx="7772400" cy="4869061"/>
          </a:xfrm>
          <a:prstGeom prst="roundRect">
            <a:avLst>
              <a:gd name="adj" fmla="val 3130"/>
            </a:avLst>
          </a:prstGeom>
          <a:solidFill>
            <a:srgbClr val="1A2850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3942457"/>
            <a:ext cx="73761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06000" y="4466332"/>
            <a:ext cx="737616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906000" y="5466457"/>
            <a:ext cx="6906768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E6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capacidades que necesitará todo desarrollador.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6677918"/>
            <a:ext cx="1411932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106025" y="6763643"/>
            <a:ext cx="108808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432232" y="6677918"/>
            <a:ext cx="1006822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32257" y="6763643"/>
            <a:ext cx="6829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553355" y="6677918"/>
            <a:ext cx="1226195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753380" y="6763643"/>
            <a:ext cx="90234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893850" y="6677918"/>
            <a:ext cx="2153245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093875" y="6763643"/>
            <a:ext cx="182939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906000" y="7268468"/>
            <a:ext cx="625376" cy="476250"/>
          </a:xfrm>
          <a:prstGeom prst="ellipse">
            <a:avLst/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06025" y="7354193"/>
            <a:ext cx="30152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253473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VISIÓN GENERAL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habilidades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6817668" y="3428702"/>
            <a:ext cx="4652665" cy="1333500"/>
          </a:xfrm>
          <a:prstGeom prst="roundRect">
            <a:avLst>
              <a:gd name="adj" fmla="val 11429"/>
            </a:avLst>
          </a:prstGeom>
          <a:solidFill>
            <a:srgbClr val="1A2850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03468" y="3733502"/>
            <a:ext cx="34206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34475" y="476220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7" name="Shape 5"/>
          <p:cNvSpPr/>
          <p:nvPr/>
        </p:nvSpPr>
        <p:spPr>
          <a:xfrm>
            <a:off x="3143250" y="5295602"/>
            <a:ext cx="1200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8" name="Shape 6"/>
          <p:cNvSpPr/>
          <p:nvPr/>
        </p:nvSpPr>
        <p:spPr>
          <a:xfrm>
            <a:off x="30194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5848052"/>
            <a:ext cx="3771900" cy="2410420"/>
          </a:xfrm>
          <a:prstGeom prst="roundRect">
            <a:avLst>
              <a:gd name="adj" fmla="val 632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8248948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3000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3" name="Shape 11"/>
          <p:cNvSpPr/>
          <p:nvPr/>
        </p:nvSpPr>
        <p:spPr>
          <a:xfrm>
            <a:off x="4905375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14573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7325" y="6657677"/>
            <a:ext cx="3237548" cy="1286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y desplegar aplicaciones de IA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70961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9700" y="5848052"/>
            <a:ext cx="3771900" cy="2410420"/>
          </a:xfrm>
          <a:prstGeom prst="roundRect">
            <a:avLst>
              <a:gd name="adj" fmla="val 6323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219700" y="8248948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97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9700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82075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2" name="Text 20"/>
          <p:cNvSpPr/>
          <p:nvPr/>
        </p:nvSpPr>
        <p:spPr>
          <a:xfrm>
            <a:off x="55340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4025" y="6657677"/>
            <a:ext cx="3237548" cy="1286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ingeniería de software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111728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5" name="Shape 23"/>
          <p:cNvSpPr/>
          <p:nvPr/>
        </p:nvSpPr>
        <p:spPr>
          <a:xfrm>
            <a:off x="9296400" y="5848052"/>
            <a:ext cx="3771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296400" y="8219777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7" name="Shape 25"/>
          <p:cNvSpPr/>
          <p:nvPr/>
        </p:nvSpPr>
        <p:spPr>
          <a:xfrm>
            <a:off x="92964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96400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3058775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0" name="Text 28"/>
          <p:cNvSpPr/>
          <p:nvPr/>
        </p:nvSpPr>
        <p:spPr>
          <a:xfrm>
            <a:off x="96107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0725" y="6657677"/>
            <a:ext cx="3237548" cy="870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agentes de código</a:t>
            </a:r>
            <a:endParaRPr lang="en-US" sz="2850" dirty="0"/>
          </a:p>
        </p:txBody>
      </p:sp>
      <p:sp>
        <p:nvSpPr>
          <p:cNvPr id="32" name="Shape 30"/>
          <p:cNvSpPr/>
          <p:nvPr/>
        </p:nvSpPr>
        <p:spPr>
          <a:xfrm>
            <a:off x="152495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33" name="Shape 31"/>
          <p:cNvSpPr/>
          <p:nvPr/>
        </p:nvSpPr>
        <p:spPr>
          <a:xfrm>
            <a:off x="13373100" y="5848052"/>
            <a:ext cx="3771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13373100" y="8219777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5" name="Shape 33"/>
          <p:cNvSpPr/>
          <p:nvPr/>
        </p:nvSpPr>
        <p:spPr>
          <a:xfrm>
            <a:off x="133731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36" name="Shape 34"/>
          <p:cNvSpPr/>
          <p:nvPr/>
        </p:nvSpPr>
        <p:spPr>
          <a:xfrm>
            <a:off x="13373100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135475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8" name="Text 36"/>
          <p:cNvSpPr/>
          <p:nvPr/>
        </p:nvSpPr>
        <p:spPr>
          <a:xfrm>
            <a:off x="136874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687425" y="6657677"/>
            <a:ext cx="3237548" cy="870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forma a lo que se construye</a:t>
            </a:r>
            <a:endParaRPr lang="en-US" sz="2850" dirty="0"/>
          </a:p>
        </p:txBody>
      </p:sp>
      <p:sp>
        <p:nvSpPr>
          <p:cNvPr id="40" name="Text 38"/>
          <p:cNvSpPr/>
          <p:nvPr/>
        </p:nvSpPr>
        <p:spPr>
          <a:xfrm>
            <a:off x="1143000" y="9229725"/>
            <a:ext cx="48281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común: aprendizaje continuo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01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581424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4581674"/>
            <a:ext cx="13735050" cy="195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y desplegar aplicaciones de IA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88285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sistemas confiables a partir de componentes cuyas salidas no son predecibles.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25899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APLICACIONES DE 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competencias de aplicaciones de IA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5425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LLM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495425" y="3981450"/>
            <a:ext cx="4584839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Tokens, ventana de contexto, parámetros de muestreo y uso de herramientas.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565850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18275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Fundamentar con datos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918275" y="3981450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RAG, grafos de conocimiento y capas semánticas para dar buen contexto.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988701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1126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agénticos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2341126" y="3981450"/>
            <a:ext cx="4584839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Flujos, herramientas, memoria, multiagente y guardrails de seguridad.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143000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1A2850"/>
          </a:solidFill>
          <a:ln/>
        </p:spPr>
      </p:sp>
      <p:sp>
        <p:nvSpPr>
          <p:cNvPr id="16" name="Text 14"/>
          <p:cNvSpPr/>
          <p:nvPr/>
        </p:nvSpPr>
        <p:spPr>
          <a:xfrm>
            <a:off x="1485900" y="6376988"/>
            <a:ext cx="491738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guiado por evals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485900" y="7053263"/>
            <a:ext cx="4604461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E6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con evaluaciones y análisis de errores para decidir qué probar.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565850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8275" y="6386513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 en producción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6918275" y="7062788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Observabilidad, detección de drift, costo y latencia a escala.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1988701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1126" y="6386513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ML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2341126" y="7062788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supervisado, sesgo/varianza e ingeniería de datos.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25899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APLICACIONES DE 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evaluación y análisis de errores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3427214"/>
            <a:ext cx="3571875" cy="1704975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 w="19050">
            <a:solidFill>
              <a:srgbClr val="01A2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6850" y="3789164"/>
            <a:ext cx="32165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6850" y="4217789"/>
            <a:ext cx="3216593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714875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0" name="Shape 8"/>
          <p:cNvSpPr/>
          <p:nvPr/>
        </p:nvSpPr>
        <p:spPr>
          <a:xfrm>
            <a:off x="5286375" y="3436739"/>
            <a:ext cx="3571875" cy="1685925"/>
          </a:xfrm>
          <a:prstGeom prst="roundRect">
            <a:avLst>
              <a:gd name="adj" fmla="val 9040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00700" y="3789164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600700" y="4217789"/>
            <a:ext cx="32375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8858250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4" name="Shape 12"/>
          <p:cNvSpPr/>
          <p:nvPr/>
        </p:nvSpPr>
        <p:spPr>
          <a:xfrm>
            <a:off x="9429750" y="3436739"/>
            <a:ext cx="3571875" cy="1685925"/>
          </a:xfrm>
          <a:prstGeom prst="roundRect">
            <a:avLst>
              <a:gd name="adj" fmla="val 9040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44075" y="3789164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744075" y="4217789"/>
            <a:ext cx="32375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errores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3001625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73125" y="3160514"/>
            <a:ext cx="3571875" cy="2238375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887450" y="3512939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887450" y="3941564"/>
            <a:ext cx="3031522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el siguiente paso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3063180" y="6275189"/>
            <a:ext cx="12161639" cy="190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2" name="Shape 20"/>
          <p:cNvSpPr/>
          <p:nvPr/>
        </p:nvSpPr>
        <p:spPr>
          <a:xfrm>
            <a:off x="3063180" y="5932289"/>
            <a:ext cx="19050" cy="3619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05770" y="5932289"/>
            <a:ext cx="19050" cy="3619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" y="6827639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Determinista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143000" y="7780139"/>
            <a:ext cx="553212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en código para salidas verificables.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294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LLM-as-a-judge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6629400" y="7780139"/>
            <a:ext cx="5180076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califica según criterios definidos.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21158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en el ciclo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2115800" y="7780139"/>
            <a:ext cx="553212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experta donde el juicio es crítico.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02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581424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4581674"/>
            <a:ext cx="13735050" cy="195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ingeniería de software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88285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cómo funciona el software para dirigir al agente con el lenguaje preciso de la ingeniería.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41643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FUNDAMENTOS DE SOFTWARE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competencias y sus compensaciones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3195638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425291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63378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3452813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Aplicaciones full-stack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143000" y="5310188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691063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4510088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datos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143000" y="636746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574833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5567363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sistemas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143000" y="7424737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6805613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6624638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fiabilidad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1143000" y="848201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786288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7681912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y operación en producción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0439400" y="3133725"/>
            <a:ext cx="6705600" cy="5419725"/>
          </a:xfrm>
          <a:prstGeom prst="roundRect">
            <a:avLst>
              <a:gd name="adj" fmla="val 2812"/>
            </a:avLst>
          </a:prstGeom>
          <a:solidFill>
            <a:srgbClr val="E6F6FD"/>
          </a:solidFill>
          <a:ln/>
        </p:spPr>
      </p:sp>
      <p:sp>
        <p:nvSpPr>
          <p:cNvPr id="23" name="Text 21"/>
          <p:cNvSpPr/>
          <p:nvPr/>
        </p:nvSpPr>
        <p:spPr>
          <a:xfrm>
            <a:off x="10934700" y="3629025"/>
            <a:ext cx="6286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46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COMPENSACIONES A DIRIGIR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934700" y="4191000"/>
            <a:ext cx="1583829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91875" y="4295775"/>
            <a:ext cx="114567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2651879" y="4191000"/>
            <a:ext cx="2352824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09054" y="4295775"/>
            <a:ext cx="1914674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0934700" y="4924425"/>
            <a:ext cx="2120503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91875" y="5029200"/>
            <a:ext cx="168235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3188553" y="4924425"/>
            <a:ext cx="1757065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445728" y="5029200"/>
            <a:ext cx="131891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Fiabilidad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0934700" y="5657850"/>
            <a:ext cx="2419945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191875" y="5762625"/>
            <a:ext cx="198179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Mantenibilidad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3487995" y="5657850"/>
            <a:ext cx="2001738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45170" y="5762625"/>
            <a:ext cx="156358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Simplicidad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0934700" y="6391275"/>
            <a:ext cx="1248966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91875" y="6496050"/>
            <a:ext cx="81081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0934700" y="7258050"/>
            <a:ext cx="58864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sabe que existen, el agente las decide por usted.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03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3061543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061793"/>
            <a:ext cx="1466850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agentes de código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40288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Dirigir agentes —cuánto intervenir y cuánto delegar— para construir software robusto sin desperdiciar tiempo ni tokens.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0779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AGENTES DE CÓDIGO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trabajo con agentes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6467475" y="3028950"/>
            <a:ext cx="9525" cy="574357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4859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3590925"/>
            <a:ext cx="535400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Planificar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43000" y="4629150"/>
            <a:ext cx="5013293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Investigar y entender el código existente. Escribir la spec: requisitos, diseño y arquitectura. Generar y revisar el plan.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1801475" y="3028950"/>
            <a:ext cx="9525" cy="574357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2" name="Shape 10"/>
          <p:cNvSpPr/>
          <p:nvPr/>
        </p:nvSpPr>
        <p:spPr>
          <a:xfrm>
            <a:off x="69342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2771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34200" y="3590925"/>
            <a:ext cx="485108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934200" y="4629150"/>
            <a:ext cx="4542377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construye con autonomía calibrada. Verificar con pruebas automáticas y revisión humana.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2682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6111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268200" y="3590925"/>
            <a:ext cx="5023104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y monitorear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268200" y="5400675"/>
            <a:ext cx="5023104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con CI/CD y controles humanos. Agentes que vigilan logs y proponen mejoras.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43000" y="9229725"/>
            <a:ext cx="82981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Proceso iterativo: cada fase puede volver a la anterior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0779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AGENTES DE CÓDIGO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competencias con agentes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441960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40995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05000" y="322897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Dirigir el flujo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810500" y="3352800"/>
            <a:ext cx="961453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esfuerzo humano y de agente en cada fase, y cuándo volver atrás.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143000" y="58864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87680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05000" y="469582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Habilitar autonomía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810500" y="4819650"/>
            <a:ext cx="961453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de delegación, gestión de contexto, agentes en paralelo y permisos.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43000" y="698182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634365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05000" y="616267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el trabajo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810500" y="6286500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funcionales y de comportamiento, revisión agéntica y auditorías.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143000" y="807720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743902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05000" y="7258050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Personalizar el entorno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810500" y="7381875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MCP, hooks y contexto permanente como AGENTS.md.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143000" y="91725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853440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05000" y="835342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del agente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810500" y="8477250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un harness envuelve al LLM: búsqueda, contexto y subagentes.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143000" y="9563100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6870561" y="9563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04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3314849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315099"/>
            <a:ext cx="1466850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forma a lo que se construye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656189"/>
            <a:ext cx="13620750" cy="544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debe construirse, no solo implementar lo que otro especificó.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16295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 FORMA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competencias para dar forma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71625" y="3381375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1625" y="3848100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Conducir el ciclo de construcción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71625" y="4629150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Prototipo, MVP o sistema empresarial: decidir el siguiente paso con sesgo a la acción.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277350" y="2952750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05975" y="3381375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05975" y="3848100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Tomar decisiones de producto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9705975" y="4629150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Sentido de producto, diseño y negocio, basado en empatía con el usuario.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143000" y="6124575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1625" y="6553200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71625" y="7019925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Comunicar y liderar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71625" y="7800975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Alinear marketing, finanzas y legal; explicar qué es técnicamente viable.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277350" y="6124575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5975" y="6553200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705975" y="7019925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 con alta agencia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705975" y="7800975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oportunidades, ejecutar de punta a punta y medir por el valor creado.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143000" y="9410700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870561" y="94107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8106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de conceptos clave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4108400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177034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38600" y="3205609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que genera texto token a token a partir de un contexto.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4108400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0" y="3177034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420600" y="3205609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que el modelo recibe en su ventana para responder.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5258842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327475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038600" y="4356050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datos relevantes e incluirlos en el prompt.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0" y="5258842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4327475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420600" y="4356050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dentro de un harness que decide su siguiente paso y usa herramientas.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6409283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5477917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038600" y="5506492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abierto para conectar modelos con herramientas y datos.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525000" y="6409283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0" name="Text 18"/>
          <p:cNvSpPr/>
          <p:nvPr/>
        </p:nvSpPr>
        <p:spPr>
          <a:xfrm>
            <a:off x="9525000" y="5477917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20600" y="5506492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sistemática que mide la calidad de las salidas.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3000" y="7559725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6628358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038600" y="6656933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 requisitos, diseño y arquitectura que guía al agente.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7559725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6" name="Text 24"/>
          <p:cNvSpPr/>
          <p:nvPr/>
        </p:nvSpPr>
        <p:spPr>
          <a:xfrm>
            <a:off x="9525000" y="6628358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420600" y="6656933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Degradación del rendimiento cuando cambian los datos reales.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" y="8710166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7778800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left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4038600" y="7807375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seguridad y pruebas al inicio del ciclo de desarrollo.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8710166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2" name="Text 30"/>
          <p:cNvSpPr/>
          <p:nvPr/>
        </p:nvSpPr>
        <p:spPr>
          <a:xfrm>
            <a:off x="9525000" y="7778800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420600" y="7807375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mínima para validar valor con usuarios reales.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10624989" y="1333500"/>
            <a:ext cx="8234511" cy="8191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COMÚN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143000" y="3688110"/>
            <a:ext cx="14668500" cy="115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63"/>
              </a:lnSpc>
              <a:buNone/>
            </a:pPr>
            <a:r>
              <a:rPr lang="en-US" sz="8400" spc="-8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continuo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1143000" y="5189190"/>
            <a:ext cx="11772900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300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la frontera tecnológica, probar herramientas nuevas y ajustar los flujos de trabajo a medida que cambian las buenas prácticas.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99170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29527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43000" y="45243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39433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ago 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38500" y="38671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1 — The AI Engineering Skills Map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54387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43000" y="48577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38500" y="47815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2 — Building and Deploying AI Applications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143000" y="63531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43000" y="57721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ago 2026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38500" y="56959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3 — Software Engineering Fundamentals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143000" y="72675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66865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sep 2026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38500" y="66103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4 — Using Coding Agents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143000" y="81819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143000" y="76009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sep 2026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38500" y="75247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5 — Shaping the Build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9229725"/>
            <a:ext cx="588426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Andrew Ng · The Batch · DeepLearning.AI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1A2E9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65176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0" spc="-110">
                <a:solidFill>
                  <a:srgbClr val="01A2E9"/>
                </a:solidFill>
                <a:latin typeface="Arial"/>
              </a:rPr>
              <a:t>Innova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81144"/>
            <a:ext cx="14173200" cy="195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spc="-64">
                <a:solidFill>
                  <a:srgbClr val="FFFFFF"/>
                </a:solidFill>
                <a:latin typeface="Arial"/>
              </a:rPr>
              <a:t>Las competencias del mapa, juntas en un proyecto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7223760"/>
            <a:ext cx="13258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0">
                <a:solidFill>
                  <a:srgbClr val="B8E4F9"/>
                </a:solidFill>
                <a:latin typeface="Arial"/>
              </a:rPr>
              <a:t>Un copiloto de IA para un centro de innovación ficticio que atiende MIPYMES de Bolívar. Construido paso a paso, con 11 versiones que puedes revisar en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E4F9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B8E4F9"/>
                </a:solidFill>
                <a:latin typeface="Courier New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Del problema a una propuesta, en una conversación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PROCESO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Una empresa escribe; alguien del centro la entrevista, encuadra el caso, hace el análisis a mano y arma la oferta. Semanas.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989320"/>
            <a:ext cx="5074920" cy="288036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633679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INNOVA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674827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ial"/>
              </a:rPr>
              <a:t>La idea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7434071"/>
            <a:ext cx="4379976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E6F6FD"/>
                </a:solidFill>
                <a:latin typeface="Arial"/>
              </a:rPr>
              <a:t>Diagnóstico → línea de trabajo → servicio del catálogo con cita → simulación "what if" → pre-propuesta.</a:t>
            </a:r>
          </a:p>
        </p:txBody>
      </p:sp>
      <p:pic>
        <p:nvPicPr>
          <p:cNvPr id="14" name="Picture 13" descr="hotel-getsema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79" y="2942710"/>
            <a:ext cx="6035040" cy="336830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64008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38760" y="2926080"/>
            <a:ext cx="4206240" cy="5943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1A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0" y="32461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EL CASO DE LA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0" y="37033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Hotel Brisas de Getsemaní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0" y="4800600"/>
            <a:ext cx="36118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24 habitaciones · Cartagena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Filas de hasta 40 min en el check-in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2 recepcionistas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18 huéspedes por hora en el pico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6 minutos por check-in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Quejas en las reseñas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90372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A2850"/>
                </a:solidFill>
                <a:latin typeface="Arial"/>
              </a:rPr>
              <a:t>¿Por qué no solo IA? </a:t>
            </a:r>
            <a:r>
              <a:rPr sz="1900" b="0">
                <a:solidFill>
                  <a:srgbClr val="4A5266"/>
                </a:solidFill>
                <a:latin typeface="Arial"/>
              </a:rPr>
              <a:t>El LLM entiende y redacta; los precios salen del catálogo, los cálculos de una herramienta y la decisión es de una persona.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EL RECORRIDO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11 pasos, 11 tags de git</a:t>
            </a:r>
          </a:p>
        </p:txBody>
      </p:sp>
      <p:sp>
        <p:nvSpPr>
          <p:cNvPr id="6" name="Rectangle 5"/>
          <p:cNvSpPr/>
          <p:nvPr/>
        </p:nvSpPr>
        <p:spPr>
          <a:xfrm>
            <a:off x="1623060" y="4677156"/>
            <a:ext cx="14630400" cy="18288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206240"/>
            <a:ext cx="960120" cy="960120"/>
          </a:xfrm>
          <a:prstGeom prst="ellipse">
            <a:avLst/>
          </a:prstGeom>
          <a:solidFill>
            <a:srgbClr val="7DC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1A285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Dar forma</a:t>
            </a:r>
          </a:p>
        </p:txBody>
      </p:sp>
      <p:sp>
        <p:nvSpPr>
          <p:cNvPr id="9" name="Oval 8"/>
          <p:cNvSpPr/>
          <p:nvPr/>
        </p:nvSpPr>
        <p:spPr>
          <a:xfrm>
            <a:off x="2606040" y="4206240"/>
            <a:ext cx="960120" cy="960120"/>
          </a:xfrm>
          <a:prstGeom prst="ellipse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Entorno del agente</a:t>
            </a:r>
          </a:p>
        </p:txBody>
      </p:sp>
      <p:sp>
        <p:nvSpPr>
          <p:cNvPr id="11" name="Oval 10"/>
          <p:cNvSpPr/>
          <p:nvPr/>
        </p:nvSpPr>
        <p:spPr>
          <a:xfrm>
            <a:off x="406908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Arquitectura y datos</a:t>
            </a:r>
          </a:p>
        </p:txBody>
      </p:sp>
      <p:sp>
        <p:nvSpPr>
          <p:cNvPr id="13" name="Oval 12"/>
          <p:cNvSpPr/>
          <p:nvPr/>
        </p:nvSpPr>
        <p:spPr>
          <a:xfrm>
            <a:off x="553212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Primer LLM</a:t>
            </a:r>
          </a:p>
        </p:txBody>
      </p:sp>
      <p:sp>
        <p:nvSpPr>
          <p:cNvPr id="15" name="Oval 14"/>
          <p:cNvSpPr/>
          <p:nvPr/>
        </p:nvSpPr>
        <p:spPr>
          <a:xfrm>
            <a:off x="699516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Evals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RAG</a:t>
            </a:r>
          </a:p>
        </p:txBody>
      </p:sp>
      <p:sp>
        <p:nvSpPr>
          <p:cNvPr id="19" name="Oval 18"/>
          <p:cNvSpPr/>
          <p:nvPr/>
        </p:nvSpPr>
        <p:spPr>
          <a:xfrm>
            <a:off x="992124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0" name="Oval 19"/>
          <p:cNvSpPr/>
          <p:nvPr/>
        </p:nvSpPr>
        <p:spPr>
          <a:xfrm>
            <a:off x="10607040" y="4160520"/>
            <a:ext cx="310896" cy="310896"/>
          </a:xfrm>
          <a:prstGeom prst="ellipse">
            <a:avLst/>
          </a:prstGeom>
          <a:solidFill>
            <a:srgbClr val="0283B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Agente</a:t>
            </a:r>
          </a:p>
        </p:txBody>
      </p:sp>
      <p:sp>
        <p:nvSpPr>
          <p:cNvPr id="22" name="Oval 21"/>
          <p:cNvSpPr/>
          <p:nvPr/>
        </p:nvSpPr>
        <p:spPr>
          <a:xfrm>
            <a:off x="1138428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3" name="Oval 22"/>
          <p:cNvSpPr/>
          <p:nvPr/>
        </p:nvSpPr>
        <p:spPr>
          <a:xfrm>
            <a:off x="12070080" y="4160520"/>
            <a:ext cx="310896" cy="310896"/>
          </a:xfrm>
          <a:prstGeom prst="ellipse">
            <a:avLst/>
          </a:prstGeom>
          <a:solidFill>
            <a:srgbClr val="7DCEF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ML clásico</a:t>
            </a:r>
          </a:p>
        </p:txBody>
      </p:sp>
      <p:sp>
        <p:nvSpPr>
          <p:cNvPr id="25" name="Oval 24"/>
          <p:cNvSpPr/>
          <p:nvPr/>
        </p:nvSpPr>
        <p:spPr>
          <a:xfrm>
            <a:off x="1284732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26" name="Oval 25"/>
          <p:cNvSpPr/>
          <p:nvPr/>
        </p:nvSpPr>
        <p:spPr>
          <a:xfrm>
            <a:off x="13533120" y="4160520"/>
            <a:ext cx="310896" cy="310896"/>
          </a:xfrm>
          <a:prstGeom prst="ellipse">
            <a:avLst/>
          </a:prstGeom>
          <a:solidFill>
            <a:srgbClr val="1A285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7300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Producto y revisión</a:t>
            </a:r>
          </a:p>
        </p:txBody>
      </p:sp>
      <p:sp>
        <p:nvSpPr>
          <p:cNvPr id="28" name="Oval 27"/>
          <p:cNvSpPr/>
          <p:nvPr/>
        </p:nvSpPr>
        <p:spPr>
          <a:xfrm>
            <a:off x="1431036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29" name="Oval 28"/>
          <p:cNvSpPr/>
          <p:nvPr/>
        </p:nvSpPr>
        <p:spPr>
          <a:xfrm>
            <a:off x="14996159" y="4160520"/>
            <a:ext cx="310896" cy="310896"/>
          </a:xfrm>
          <a:prstGeom prst="ellipse">
            <a:avLst/>
          </a:prstGeom>
          <a:solidFill>
            <a:srgbClr val="0283B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3604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Producción</a:t>
            </a:r>
          </a:p>
        </p:txBody>
      </p:sp>
      <p:sp>
        <p:nvSpPr>
          <p:cNvPr id="31" name="Oval 30"/>
          <p:cNvSpPr/>
          <p:nvPr/>
        </p:nvSpPr>
        <p:spPr>
          <a:xfrm>
            <a:off x="15773400" y="4206240"/>
            <a:ext cx="960120" cy="960120"/>
          </a:xfrm>
          <a:prstGeom prst="ellipse">
            <a:avLst/>
          </a:prstGeom>
          <a:solidFill>
            <a:srgbClr val="7DC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1A2850"/>
                </a:solidFill>
                <a:latin typeface="Arial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9908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Cierre</a:t>
            </a:r>
          </a:p>
        </p:txBody>
      </p:sp>
      <p:sp>
        <p:nvSpPr>
          <p:cNvPr id="33" name="Oval 32"/>
          <p:cNvSpPr/>
          <p:nvPr/>
        </p:nvSpPr>
        <p:spPr>
          <a:xfrm>
            <a:off x="1143000" y="7086600"/>
            <a:ext cx="310896" cy="310896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1 · Apps de IA</a:t>
            </a:r>
          </a:p>
        </p:txBody>
      </p:sp>
      <p:sp>
        <p:nvSpPr>
          <p:cNvPr id="35" name="Oval 34"/>
          <p:cNvSpPr/>
          <p:nvPr/>
        </p:nvSpPr>
        <p:spPr>
          <a:xfrm>
            <a:off x="5166360" y="7086600"/>
            <a:ext cx="310896" cy="310896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2 · Software</a:t>
            </a:r>
          </a:p>
        </p:txBody>
      </p:sp>
      <p:sp>
        <p:nvSpPr>
          <p:cNvPr id="37" name="Oval 36"/>
          <p:cNvSpPr/>
          <p:nvPr/>
        </p:nvSpPr>
        <p:spPr>
          <a:xfrm>
            <a:off x="9189720" y="7086600"/>
            <a:ext cx="310896" cy="310896"/>
          </a:xfrm>
          <a:prstGeom prst="ellipse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2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3 · Agentes de código</a:t>
            </a:r>
          </a:p>
        </p:txBody>
      </p:sp>
      <p:sp>
        <p:nvSpPr>
          <p:cNvPr id="39" name="Oval 38"/>
          <p:cNvSpPr/>
          <p:nvPr/>
        </p:nvSpPr>
        <p:spPr>
          <a:xfrm>
            <a:off x="13213080" y="7086600"/>
            <a:ext cx="310896" cy="310896"/>
          </a:xfrm>
          <a:prstGeom prst="ellipse">
            <a:avLst/>
          </a:prstGeom>
          <a:solidFill>
            <a:srgbClr val="7DC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67028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4 · Dar forma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863840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283BA"/>
                </a:solidFill>
                <a:latin typeface="Courier New"/>
              </a:rPr>
              <a:t>git checkout paso-05-rag</a:t>
            </a:r>
            <a:r>
              <a:rPr sz="2000" b="0">
                <a:solidFill>
                  <a:srgbClr val="4A5266"/>
                </a:solidFill>
                <a:latin typeface="Arial"/>
              </a:rPr>
              <a:t>  → el proyecto exactamente como estaba en ese punto, funcionando. Cada paso tiene su doc, su bitácora del agente y un ejercicio para probarlo tú.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02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Arquitectura simple, en producción desde el día 1</a:t>
            </a:r>
          </a:p>
        </p:txBody>
      </p:sp>
      <p:pic>
        <p:nvPicPr>
          <p:cNvPr id="6" name="Picture 5" descr="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177" y="2788920"/>
            <a:ext cx="15913645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Next.js +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UI y API juntas; cada push despliega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Postgres, vectores, auth y RLS en todas las tablas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2436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2436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Claude Sonnet 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2436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agente; Haiku 4.5 como juez de las evals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paso-02-arquitectura-datos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03 · FUNDAMENTOS DE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Sin datos, el modelo inventa con seguridad</a:t>
            </a:r>
          </a:p>
        </p:txBody>
      </p:sp>
      <p:pic>
        <p:nvPicPr>
          <p:cNvPr id="6" name="Picture 5" descr="paso03-rec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937201"/>
            <a:ext cx="8503920" cy="43668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2926080"/>
            <a:ext cx="8503920" cy="4389120"/>
          </a:xfrm>
          <a:prstGeom prst="rect">
            <a:avLst/>
          </a:prstGeom>
          <a:noFill/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7498079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488"/>
                </a:solidFill>
                <a:latin typeface="Courier New"/>
              </a:rPr>
              <a:t>Respuesta real del paso 03 (docs/evidencia/paso-03)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292608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spc="-60">
                <a:solidFill>
                  <a:srgbClr val="1A2850"/>
                </a:solidFill>
                <a:latin typeface="Arial"/>
              </a:rPr>
              <a:t>COP 6–12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3977639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rango que "recomendó" el modelo para el hotel…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489204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spc="-60">
                <a:solidFill>
                  <a:srgbClr val="0283BA"/>
                </a:solidFill>
                <a:latin typeface="Arial"/>
              </a:rPr>
              <a:t>COP 8–25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59436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…y lo que dice la ficha real del catálogo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90372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A2850"/>
                </a:solidFill>
                <a:latin typeface="Arial"/>
              </a:rPr>
              <a:t>Tokens, contexto, caché: </a:t>
            </a:r>
            <a:r>
              <a:rPr sz="1900" b="0">
                <a:solidFill>
                  <a:srgbClr val="4A5266"/>
                </a:solidFill>
                <a:latin typeface="Arial"/>
              </a:rPr>
              <a:t>el caché bajó un 78,6 % el costo de la entrada. </a:t>
            </a:r>
            <a:r>
              <a:rPr sz="1900" b="0">
                <a:solidFill>
                  <a:srgbClr val="0283BA"/>
                </a:solidFill>
                <a:latin typeface="Courier New"/>
              </a:rPr>
              <a:t>temperature</a:t>
            </a:r>
            <a:r>
              <a:rPr sz="1900" b="0">
                <a:solidFill>
                  <a:srgbClr val="4A5266"/>
                </a:solidFill>
                <a:latin typeface="Arial"/>
              </a:rPr>
              <a:t> ya no existe en Sonnet 5.5: el control es </a:t>
            </a:r>
            <a:r>
              <a:rPr sz="1900" b="0">
                <a:solidFill>
                  <a:srgbClr val="0283BA"/>
                </a:solidFill>
                <a:latin typeface="Courier New"/>
              </a:rPr>
              <a:t>effort</a:t>
            </a:r>
            <a:r>
              <a:rPr sz="1900" b="0">
                <a:solidFill>
                  <a:srgbClr val="4A5266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paso-03-primer-llm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04 · DESARROLLO GUIADO POR 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Sin evals, cada cambio es una opinión</a:t>
            </a:r>
          </a:p>
        </p:txBody>
      </p:sp>
      <p:pic>
        <p:nvPicPr>
          <p:cNvPr id="6" name="Picture 5" descr="evals-ev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233998"/>
            <a:ext cx="10241280" cy="5144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200" y="28346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3 → 24 →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0" y="38862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de 30 casos pasan todos los chequeos (pasos 03 → 05 → 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48920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37 % → 100 %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0" y="59436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de respuestas sin precios inventados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0" y="6949440"/>
            <a:ext cx="5303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2850"/>
                </a:solidFill>
                <a:latin typeface="Arial"/>
              </a:rPr>
              <a:t>La eval también tuvo bugs: </a:t>
            </a:r>
            <a:r>
              <a:rPr sz="1800" b="0">
                <a:solidFill>
                  <a:srgbClr val="4A5266"/>
                </a:solidFill>
                <a:latin typeface="Arial"/>
              </a:rPr>
              <a:t>el primer juez premió un precio inventado y el primer dataset castigaba hacer preguntas. Lo vimos leyendo los fallos uno por uno.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paso-04-evals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05 · FUNDAMENTAR CON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No cambiamos el modelo: cambiamos lo que sabe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SERVICIO CORRECTO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A2850"/>
                </a:solidFill>
                <a:latin typeface="Arial"/>
              </a:rPr>
              <a:t>30 % →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recomienda un servicio real del catálogo, con enlace a la ficha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BÚSQUEDA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2850"/>
                </a:solidFill>
                <a:latin typeface="Arial"/>
              </a:rPr>
              <a:t>FTS 6/8 · híbrido 8/8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3115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con paráfrasis sin palabras del catálogo ("botamos comida todos los días")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926080"/>
            <a:ext cx="51206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71832" y="3273552"/>
            <a:ext cx="4425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71832" y="3685032"/>
            <a:ext cx="44256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2850"/>
                </a:solidFill>
                <a:latin typeface="Arial"/>
              </a:rPr>
              <a:t>Small-to-big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832" y="4370832"/>
            <a:ext cx="442569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busca en fragmentos, entrega al modelo la ficha completa: nunca un precio suelto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69494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63093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En el prompt (con caché)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3276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reglas · 3 políticas · índice de nombres de servicios, sin precios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8638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72237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Por recuperación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72420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fichas completas: precios, entregables, duración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7782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1381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Ni grafo ni base vectorial aparte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81564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13 documentos sin relaciones: Postgres + pgvector basta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paso-05-rag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06 · SISTEMAS AGÉNTICOS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El LLM no calcula: decide quién calcula</a:t>
            </a:r>
          </a:p>
        </p:txBody>
      </p:sp>
      <p:pic>
        <p:nvPicPr>
          <p:cNvPr id="6" name="Picture 5" descr="hotel-simu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757226"/>
            <a:ext cx="11338560" cy="49097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93040" y="283464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30,2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0" y="38862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espera p90 hoy (1 de cada 10 huéspedes espera más)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93040" y="489204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0,8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0" y="59436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espera media con check-in digital previo (con una 3.ª recepcionista: 1,8 min)</a:t>
            </a:r>
          </a:p>
        </p:txBody>
      </p:sp>
      <p:pic>
        <p:nvPicPr>
          <p:cNvPr id="11" name="Picture 10" descr="llm-no-calcu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3040" y="6903720"/>
            <a:ext cx="3276685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93040" y="8778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863840"/>
            <a:ext cx="11338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0283BA"/>
                </a:solidFill>
                <a:latin typeface="Courier New"/>
              </a:rPr>
              <a:t>simulate_queue</a:t>
            </a:r>
            <a:r>
              <a:rPr sz="1800" b="0">
                <a:solidFill>
                  <a:srgbClr val="4A5266"/>
                </a:solidFill>
                <a:latin typeface="Arial"/>
              </a:rPr>
              <a:t>: Erlang C + simulación de eventos discretos con semilla fija, 17 tests. El texto del agente usó exactamente sus cifras en 4 de 4 casos de la eval.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paso-06-agente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06 · AGENTE Y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Actuar, pero con permiso</a:t>
            </a:r>
          </a:p>
        </p:txBody>
      </p:sp>
      <p:pic>
        <p:nvPicPr>
          <p:cNvPr id="6" name="Picture 5" descr="pre-propuesta-rec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663082"/>
            <a:ext cx="8778240" cy="42867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2743200"/>
            <a:ext cx="8778240" cy="6126480"/>
          </a:xfrm>
          <a:prstGeom prst="rect">
            <a:avLst/>
          </a:prstGeom>
          <a:noFill/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60" y="2788920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Aprobación humana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Guardar la pre-propuesta exige el botón "Sí, guardar", y la aprobación va firmada.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24160" y="4325112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44200" y="432511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El precio lo pone el código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4782312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El rango de inversión sale del catálogo, no del modelo.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5861304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58613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Protección de la URL del QR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6318504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Límite de mensajes por IP y sesión, tope diario, límite de tamaño y fallo cerrado.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4160" y="7397496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44200" y="73974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Plan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7854696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AI_MODE=mock: la misma demo sin red ni claves.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paso-06-agente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07 · FUNDAMENTOS DE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¿Siempre un LLM? Mismo test, tres modelos</a:t>
            </a:r>
          </a:p>
        </p:txBody>
      </p:sp>
      <p:pic>
        <p:nvPicPr>
          <p:cNvPr id="6" name="Picture 5" descr="ml-vs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233" y="2697480"/>
            <a:ext cx="10339533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Costo / 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Latencia p50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31520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TF-IDF + regresión logística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91,7 %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≈ US$ 0 (local)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0,6 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81812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Haiku 4.5 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86,1 %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US$ 0,30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613,3 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3210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Haiku 4.5 few-shot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97,2 %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US$ 1,02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527,7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868680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36 casos de prueba sintéticos: 1 caso = 2,8 puntos. Decisión: el agente clasifica en la conversación; el modelo clásico, para triage masivo y drift.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paso-07-ml-clasico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PASOS 01 Y 08 · AGENTES DE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Todo esto lo construyó un agente de código</a:t>
            </a:r>
          </a:p>
        </p:txBody>
      </p:sp>
      <p:pic>
        <p:nvPicPr>
          <p:cNvPr id="6" name="Picture 5" descr="harness-ag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260" y="2788920"/>
            <a:ext cx="573419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6035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8346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2852928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la inducción del agente: arquitectura, comandos, "nunca inventes métricas"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59359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37033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Hooks y permisos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3721607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bloquea escribir claves; no puede leer .env ni forzar un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446227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572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Subagente revisor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4590288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contexto limpio, solo lectura: "NOT READY", 3 fallas graves en 7 minutos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533095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44067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Bitácora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5458967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el prompt exacto de cada paso y cada error, sin editar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6199631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6583680"/>
            <a:ext cx="16002000" cy="224028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6858000"/>
            <a:ext cx="1527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DE LA BITÁCORA DEL PASO 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7315200"/>
            <a:ext cx="15270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B8E4F9"/>
                </a:solidFill>
                <a:latin typeface="Arial"/>
              </a:rPr>
              <a:t>El modelo escribió: </a:t>
            </a:r>
            <a:r>
              <a:rPr sz="2000" b="0">
                <a:solidFill>
                  <a:srgbClr val="FFFFFF"/>
                </a:solidFill>
                <a:latin typeface="Arial"/>
              </a:rPr>
              <a:t>"te di cifras de simulación sin haber consultado las herramientas. No debí hacerlo". </a:t>
            </a:r>
            <a:r>
              <a:rPr sz="2000" b="0">
                <a:solidFill>
                  <a:srgbClr val="B8E4F9"/>
                </a:solidFill>
                <a:latin typeface="Arial"/>
              </a:rPr>
              <a:t>Sí las había consultado: el bug era nuestro (el historial perdía las llamadas). El modelo "confesando" un error que no cometió fue la pista.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paso-01-entorno-agente  ·  paso-08-producto-completo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09 · OPERACIÓN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Lo que no se mide en producción, no existe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US$ 0,016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costo promedio por conversación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6,2 / 13,2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latencia por respuesta, p50 / p95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0" y="292608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TVD 0,30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977639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alerta de drift (umbral 0,2): avalancha de solicitudes de propiedad intelectual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1600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6B7488"/>
                </a:solidFill>
                <a:latin typeface="Arial"/>
              </a:rPr>
              <a:t>Telemetría real de 10 conversaciones (15 respuestas) hasta el 2026-09-29: muestra pequeña. El drift usa tráfico simulado y marcado como 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03504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6199631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Telemetría por turno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56831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tokens, costo, latencia, herramientas, errores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603504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6199631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Evals de regresión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656831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un cambio de prompt sin eval en vivo no pasa el CI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745236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7616952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Runbook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807415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API caída → modo mock; costo → tope diario; abuso → límites; rollback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745236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7616952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Riesgo con fecha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807415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Haiku 4.5 se retira no antes del 15 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paso-09-produccion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LECCIONES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Una lección por pilar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01 · APPS DE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Los datos pesan más que el modelo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El mismo modelo pasó de 10 % a 80 % de casos correctos con RAG. Y las cifras las calcula una herramienta.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60" y="2926080"/>
            <a:ext cx="7772400" cy="283464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28632" y="327355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02 ·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368503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ial"/>
              </a:rPr>
              <a:t>Prueba como atacante, no como usuario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437083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E6F6FD"/>
                </a:solidFill>
                <a:latin typeface="Arial"/>
              </a:rPr>
              <a:t>Los guardrails pasaban las pruebas de la UI; el revisor fabricó el historial y encontró tres formas de disparar la factura.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598932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90472" y="633679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03 · AGENTES DE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674827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Una regla pide; un hook garantiza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743407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Permisos, hooks, CI y un revisor con contexto limpio. El humano decidió qué construir y cuándo recortar.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598932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633679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04 · DAR FORMA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674827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Mide antes de creer, incluso tu 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2" y="743407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El primer 53 % era un defecto del dataset. Leer los fallos a mano evitó una conclusión falsa.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1A2E9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FFFFFF"/>
                </a:solidFill>
                <a:latin typeface="Arial"/>
              </a:rPr>
              <a:t>Pruébalo y revísalo tú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2697480"/>
            <a:ext cx="4297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880360"/>
            <a:ext cx="3931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71780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50" b="0">
                <a:solidFill>
                  <a:srgbClr val="FFFFFF"/>
                </a:solidFill>
                <a:latin typeface="Arial"/>
              </a:rPr>
              <a:t>El código, paso a 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7724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B8E4F9"/>
                </a:solidFill>
                <a:latin typeface="Courier New"/>
              </a:rPr>
              <a:t>github.com/FutureTales/ai-engineering-demo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9840" y="2697480"/>
            <a:ext cx="4297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880360"/>
            <a:ext cx="393192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71780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50" b="0">
                <a:solidFill>
                  <a:srgbClr val="FFFFFF"/>
                </a:solidFill>
                <a:latin typeface="Arial"/>
              </a:rPr>
              <a:t>La app en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77724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B8E4F9"/>
                </a:solidFill>
                <a:latin typeface="Courier New"/>
              </a:rPr>
              <a:t>innova-copilot.vercel.app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641080"/>
            <a:ext cx="1600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E4F9"/>
                </a:solidFill>
                <a:latin typeface="Courier New"/>
              </a:rPr>
              <a:t>Demo educativa · el centro, sus servicios y las empresas son ficticios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E4F9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B8E4F9"/>
                </a:solidFill>
                <a:latin typeface="Courier New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2026-09-29T13:24:33Z</dcterms:created>
  <dcterms:modified xsi:type="dcterms:W3CDTF">2026-09-29T13:24:33Z</dcterms:modified>
</cp:coreProperties>
</file>